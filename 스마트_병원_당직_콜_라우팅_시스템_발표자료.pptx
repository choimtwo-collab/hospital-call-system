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오늘 발표를 맡은 개발팀입니다. 병동 간호 현장과 당직 의료진의 소통을 획기적으로 개선하고 오콜을 방지하기 위해 개발된 "스마트 병원 당직 및 전담간호사 콜 라우팅 시스템"의 개발 성과와 알고리즘, 주요 기능을 보고드리겠습니다.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기존 병동 현장에서는 매일 저녁마다 "오늘 내과 1번 당직이 누구인지, 이 술기는 전담간호사에게 해야 하는지"를 일일이 종이와 메신저로 찾아야 했습니다. 이로 인해 처치가 지연되고, 잘못 걸려온 전화로 의료진 간의 피로와 갈등이 극심했습니다. 본 시스템은 이 4대 문제를 알고리즘으로 해결하기 위해 출발했습니다.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시스템은 완벽히 분리된 듀얼 뷰 체계입니다. 간호사가 쓰는 임상 화면은 군더더기 없이 1초 만에 UCAP을 걸 수 있도록 최적화되었고, 관리자 화면은 9대 마스터 설정을 통해 병원의 정책 변경을 코딩 없이 즉시 수용합니다. 또한 3중 데이터 구조로 네트워크 장애 시에도 문제없이 가동됩니다.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슬라이드는 시스템의 핵심인 연락 알고리즘 5단계를 보여줍니다. 단순히 표를 조회하는 것이 아니라, 환경을 먼저 판정하고, 관리자 동적 규칙을 검사한 뒤, 특수 직역과 기본 엔진을 거쳐, 마지막으로 업무마스터 안전 가드를 통과해야만 최종 호출 대상이 결정됩니다.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내과계와 비내과계의 가장 큰 차이점은 전화 연결 방식입니다. 내과는 당직의 개인 UCAP으로 바로 연결되지만, 비내과계는 3대의 공용 당직폰으로 연결됩니다. 또한 비내과계는 일요일 마취동의서나 비뇨기과 드레싱 같은 예외 규칙들이 많은데, 알고리즘이 이를 정확히 가려냅니다.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사용자 화면은 직관성과 신속성에 초점을 맞추었습니다. 병동 간호사는 4가지 항목을 선택하기만 하면, 눈에 띄는 히어로 카드를 통해 누구에게 전화해야 하는지 즉시 알 수 있으며, 화면의 번호를 클릭하면 바로 전화가 연결됩니다. 부재 시 백업 라인까지 완벽히 제공됩니다.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관리자 화면은 병원 규정의 변화를 코딩 한 줄 없이 수용할 수 있는 9가지 서브시스템으로 구성되어 있습니다. 특히 구글 시트 연동을 통해 의국에서 작성한 당직표가 1분 만에 임상 현장에 자동 반영되며, 규칙 빌더를 통해 새로운 예외 규정도 즉시 등록할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병원 시스템에서 가장 중요한 것은 안전과 신뢰성입니다. 만약 관리자가 규칙을 잘못 입력하더라도 업무마스터의 안전 가드가 동작하여 의료 처치가 간호사에게 잘못 배정되는 일을 원천 차단합니다. 또한 3중 데이터 구조로 원내 인터넷이 끊겨도 오프라인 캐시를 통해 시스템이 정상 가동됩니다.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도입 성과는 명확합니다. 당직자 확인 시간을 95% 줄였고, 비당직의에게 전화가 걸려오던 오콜 문제를 제로화했습니다. 무엇보다 간호부와 인턴 의국 간의 가장 큰 갈등 요인이었던 "누가 이 처치를 해야 하는가"를 시스템적으로 투명하게 해결했습니다.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향후 원내 EMR 및 메신저 연동, 모바일 PWA 앱 고도화, 호출 통계 대시보드 구축까지 단계적으로 추진할 예정입니다. 지금까지 경청해 주셔서 감사합니다. 질문이나 의견이 있으시면 말씀해 주시기 바랍니다.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06B6D4"/>
          </a:solidFill>
          <a:ln/>
        </p:spPr>
      </p:sp>
      <p:sp>
        <p:nvSpPr>
          <p:cNvPr id="3" name="Shape 1"/>
          <p:cNvSpPr/>
          <p:nvPr/>
        </p:nvSpPr>
        <p:spPr>
          <a:xfrm>
            <a:off x="8412480" y="914400"/>
            <a:ext cx="3200400" cy="4754880"/>
          </a:xfrm>
          <a:prstGeom prst="roundRect">
            <a:avLst>
              <a:gd name="adj" fmla="val 5714"/>
            </a:avLst>
          </a:prstGeom>
          <a:solidFill>
            <a:srgbClr val="1E293B">
              <a:alpha val="80000"/>
            </a:srgbClr>
          </a:solidFill>
          <a:ln w="19050">
            <a:solidFill>
              <a:srgbClr val="0284C7"/>
            </a:solidFill>
            <a:prstDash val="solid"/>
          </a:ln>
        </p:spPr>
      </p:sp>
      <p:sp>
        <p:nvSpPr>
          <p:cNvPr id="4" name="Text 2"/>
          <p:cNvSpPr/>
          <p:nvPr/>
        </p:nvSpPr>
        <p:spPr>
          <a:xfrm>
            <a:off x="8686800" y="1188720"/>
            <a:ext cx="2743200" cy="274320"/>
          </a:xfrm>
          <a:prstGeom prst="rect">
            <a:avLst/>
          </a:prstGeom>
          <a:noFill/>
          <a:ln/>
        </p:spPr>
        <p:txBody>
          <a:bodyPr wrap="square" rtlCol="0" anchor="ctr"/>
          <a:lstStyle/>
          <a:p>
            <a:pPr indent="0" marL="0">
              <a:buNone/>
            </a:pPr>
            <a:r>
              <a:rPr lang="en-US" sz="1100" b="1" dirty="0">
                <a:solidFill>
                  <a:srgbClr val="06B6D4"/>
                </a:solidFill>
                <a:latin typeface="Malgun Gothic" pitchFamily="34" charset="0"/>
                <a:ea typeface="Malgun Gothic" pitchFamily="34" charset="-122"/>
                <a:cs typeface="Malgun Gothic" pitchFamily="34" charset="-120"/>
              </a:rPr>
              <a:t>SYSTEM HIGHLIGHTS</a:t>
            </a:r>
            <a:endParaRPr lang="en-US" sz="1100" dirty="0"/>
          </a:p>
        </p:txBody>
      </p:sp>
      <p:sp>
        <p:nvSpPr>
          <p:cNvPr id="5" name="Text 3"/>
          <p:cNvSpPr/>
          <p:nvPr/>
        </p:nvSpPr>
        <p:spPr>
          <a:xfrm>
            <a:off x="8686800" y="1645920"/>
            <a:ext cx="2743200" cy="3657600"/>
          </a:xfrm>
          <a:prstGeom prst="rect">
            <a:avLst/>
          </a:prstGeom>
          <a:noFill/>
          <a:ln/>
        </p:spPr>
        <p:txBody>
          <a:bodyPr wrap="square" rtlCol="0" anchor="ctr"/>
          <a:lstStyle/>
          <a:p>
            <a:pPr indent="0" marL="0">
              <a:lnSpc>
                <a:spcPts val="1800"/>
              </a:lnSpc>
              <a:buNone/>
            </a:pPr>
            <a:r>
              <a:rPr lang="en-US" sz="1100" dirty="0">
                <a:solidFill>
                  <a:srgbClr val="E2E8F0"/>
                </a:solidFill>
                <a:latin typeface="Malgun Gothic" pitchFamily="34" charset="0"/>
                <a:ea typeface="Malgun Gothic" pitchFamily="34" charset="-122"/>
                <a:cs typeface="Malgun Gothic" pitchFamily="34" charset="-120"/>
              </a:rPr>
              <a:t>• 5단계 지능형 연락 알고리즘</a:t>
            </a:r>
            <a:endParaRPr lang="en-US" sz="1100" dirty="0"/>
          </a:p>
          <a:p>
            <a:pPr indent="0" marL="0">
              <a:lnSpc>
                <a:spcPts val="1800"/>
              </a:lnSpc>
              <a:buNone/>
            </a:pPr>
            <a:endParaRPr lang="en-US" sz="1100" dirty="0"/>
          </a:p>
          <a:p>
            <a:pPr indent="0" marL="0">
              <a:lnSpc>
                <a:spcPts val="1800"/>
              </a:lnSpc>
              <a:buNone/>
            </a:pPr>
            <a:r>
              <a:rPr lang="en-US" sz="1100" dirty="0">
                <a:solidFill>
                  <a:srgbClr val="E2E8F0"/>
                </a:solidFill>
                <a:latin typeface="Malgun Gothic" pitchFamily="34" charset="0"/>
                <a:ea typeface="Malgun Gothic" pitchFamily="34" charset="-122"/>
                <a:cs typeface="Malgun Gothic" pitchFamily="34" charset="-120"/>
              </a:rPr>
              <a:t>• 평일/야간/휴일 자동 판정</a:t>
            </a:r>
            <a:endParaRPr lang="en-US" sz="1100" dirty="0"/>
          </a:p>
          <a:p>
            <a:pPr indent="0" marL="0">
              <a:lnSpc>
                <a:spcPts val="1800"/>
              </a:lnSpc>
              <a:buNone/>
            </a:pPr>
            <a:endParaRPr lang="en-US" sz="1100" dirty="0"/>
          </a:p>
          <a:p>
            <a:pPr indent="0" marL="0">
              <a:lnSpc>
                <a:spcPts val="1800"/>
              </a:lnSpc>
              <a:buNone/>
            </a:pPr>
            <a:r>
              <a:rPr lang="en-US" sz="1100" dirty="0">
                <a:solidFill>
                  <a:srgbClr val="E2E8F0"/>
                </a:solidFill>
                <a:latin typeface="Malgun Gothic" pitchFamily="34" charset="0"/>
                <a:ea typeface="Malgun Gothic" pitchFamily="34" charset="-122"/>
                <a:cs typeface="Malgun Gothic" pitchFamily="34" charset="-120"/>
              </a:rPr>
              <a:t>• 1초 원클릭 UCAP/당직폰 다이얼</a:t>
            </a:r>
            <a:endParaRPr lang="en-US" sz="1100" dirty="0"/>
          </a:p>
          <a:p>
            <a:pPr indent="0" marL="0">
              <a:lnSpc>
                <a:spcPts val="1800"/>
              </a:lnSpc>
              <a:buNone/>
            </a:pPr>
            <a:endParaRPr lang="en-US" sz="1100" dirty="0"/>
          </a:p>
          <a:p>
            <a:pPr indent="0" marL="0">
              <a:lnSpc>
                <a:spcPts val="1800"/>
              </a:lnSpc>
              <a:buNone/>
            </a:pPr>
            <a:r>
              <a:rPr lang="en-US" sz="1100" dirty="0">
                <a:solidFill>
                  <a:srgbClr val="E2E8F0"/>
                </a:solidFill>
                <a:latin typeface="Malgun Gothic" pitchFamily="34" charset="0"/>
                <a:ea typeface="Malgun Gothic" pitchFamily="34" charset="-122"/>
                <a:cs typeface="Malgun Gothic" pitchFamily="34" charset="-120"/>
              </a:rPr>
              <a:t>• 업무마스터 안전 가드 탑재</a:t>
            </a:r>
            <a:endParaRPr lang="en-US" sz="1100" dirty="0"/>
          </a:p>
          <a:p>
            <a:pPr indent="0" marL="0">
              <a:lnSpc>
                <a:spcPts val="1800"/>
              </a:lnSpc>
              <a:buNone/>
            </a:pPr>
            <a:endParaRPr lang="en-US" sz="1100" dirty="0"/>
          </a:p>
          <a:p>
            <a:pPr indent="0" marL="0">
              <a:lnSpc>
                <a:spcPts val="1800"/>
              </a:lnSpc>
              <a:buNone/>
            </a:pPr>
            <a:r>
              <a:rPr lang="en-US" sz="1100" dirty="0">
                <a:solidFill>
                  <a:srgbClr val="E2E8F0"/>
                </a:solidFill>
                <a:latin typeface="Malgun Gothic" pitchFamily="34" charset="0"/>
                <a:ea typeface="Malgun Gothic" pitchFamily="34" charset="-122"/>
                <a:cs typeface="Malgun Gothic" pitchFamily="34" charset="-120"/>
              </a:rPr>
              <a:t>• 구글 시트 실시간 자동 동기화</a:t>
            </a:r>
            <a:endParaRPr lang="en-US" sz="1100" dirty="0"/>
          </a:p>
          <a:p>
            <a:pPr indent="0" marL="0">
              <a:lnSpc>
                <a:spcPts val="1800"/>
              </a:lnSpc>
              <a:buNone/>
            </a:pPr>
            <a:endParaRPr lang="en-US" sz="1100" dirty="0"/>
          </a:p>
          <a:p>
            <a:pPr indent="0" marL="0">
              <a:lnSpc>
                <a:spcPts val="1800"/>
              </a:lnSpc>
              <a:buNone/>
            </a:pPr>
            <a:r>
              <a:rPr lang="en-US" sz="1100" dirty="0">
                <a:solidFill>
                  <a:srgbClr val="E2E8F0"/>
                </a:solidFill>
                <a:latin typeface="Malgun Gothic" pitchFamily="34" charset="0"/>
                <a:ea typeface="Malgun Gothic" pitchFamily="34" charset="-122"/>
                <a:cs typeface="Malgun Gothic" pitchFamily="34" charset="-120"/>
              </a:rPr>
              <a:t>• 9대 통합 관리자 모듈 제공</a:t>
            </a:r>
            <a:endParaRPr lang="en-US" sz="1100" dirty="0"/>
          </a:p>
        </p:txBody>
      </p:sp>
      <p:sp>
        <p:nvSpPr>
          <p:cNvPr id="6" name="Text 4"/>
          <p:cNvSpPr/>
          <p:nvPr/>
        </p:nvSpPr>
        <p:spPr>
          <a:xfrm>
            <a:off x="914400" y="1645920"/>
            <a:ext cx="7132320" cy="274320"/>
          </a:xfrm>
          <a:prstGeom prst="rect">
            <a:avLst/>
          </a:prstGeom>
          <a:noFill/>
          <a:ln/>
        </p:spPr>
        <p:txBody>
          <a:bodyPr wrap="square" rtlCol="0" anchor="ctr"/>
          <a:lstStyle/>
          <a:p>
            <a:pPr indent="0" marL="0">
              <a:buNone/>
            </a:pPr>
            <a:r>
              <a:rPr lang="en-US" sz="1100" b="1" dirty="0">
                <a:solidFill>
                  <a:srgbClr val="06B6D4"/>
                </a:solidFill>
                <a:latin typeface="Malgun Gothic" pitchFamily="34" charset="0"/>
                <a:ea typeface="Malgun Gothic" pitchFamily="34" charset="-122"/>
                <a:cs typeface="Malgun Gothic" pitchFamily="34" charset="-120"/>
              </a:rPr>
              <a:t>HOSPITAL SMART CALL ROUTER · RESULT REPORT</a:t>
            </a:r>
            <a:endParaRPr lang="en-US" sz="1100" dirty="0"/>
          </a:p>
        </p:txBody>
      </p:sp>
      <p:sp>
        <p:nvSpPr>
          <p:cNvPr id="7" name="Text 5"/>
          <p:cNvSpPr/>
          <p:nvPr/>
        </p:nvSpPr>
        <p:spPr>
          <a:xfrm>
            <a:off x="914400" y="2011680"/>
            <a:ext cx="7315200" cy="1463040"/>
          </a:xfrm>
          <a:prstGeom prst="rect">
            <a:avLst/>
          </a:prstGeom>
          <a:noFill/>
          <a:ln/>
        </p:spPr>
        <p:txBody>
          <a:bodyPr wrap="square" rtlCol="0" anchor="ctr"/>
          <a:lstStyle/>
          <a:p>
            <a:pPr indent="0" marL="0">
              <a:lnSpc>
                <a:spcPts val="4200"/>
              </a:lnSpc>
              <a:buNone/>
            </a:pPr>
            <a:r>
              <a:rPr lang="en-US" sz="3200" b="1" dirty="0">
                <a:solidFill>
                  <a:srgbClr val="FFFFFF"/>
                </a:solidFill>
                <a:latin typeface="Malgun Gothic" pitchFamily="34" charset="0"/>
                <a:ea typeface="Malgun Gothic" pitchFamily="34" charset="-122"/>
                <a:cs typeface="Malgun Gothic" pitchFamily="34" charset="-120"/>
              </a:rPr>
              <a:t>스마트 병원 당직 &amp;</a:t>
            </a:r>
            <a:endParaRPr lang="en-US" sz="3200" dirty="0"/>
          </a:p>
          <a:p>
            <a:pPr indent="0" marL="0">
              <a:lnSpc>
                <a:spcPts val="4200"/>
              </a:lnSpc>
              <a:buNone/>
            </a:pPr>
            <a:r>
              <a:rPr lang="en-US" sz="3200" b="1" dirty="0">
                <a:solidFill>
                  <a:srgbClr val="FFFFFF"/>
                </a:solidFill>
                <a:latin typeface="Malgun Gothic" pitchFamily="34" charset="0"/>
                <a:ea typeface="Malgun Gothic" pitchFamily="34" charset="-122"/>
                <a:cs typeface="Malgun Gothic" pitchFamily="34" charset="-120"/>
              </a:rPr>
              <a:t>전담간호사 콜 라우팅 시스템</a:t>
            </a:r>
            <a:endParaRPr lang="en-US" sz="3200" dirty="0"/>
          </a:p>
        </p:txBody>
      </p:sp>
      <p:sp>
        <p:nvSpPr>
          <p:cNvPr id="8" name="Text 6"/>
          <p:cNvSpPr/>
          <p:nvPr/>
        </p:nvSpPr>
        <p:spPr>
          <a:xfrm>
            <a:off x="914400" y="3657600"/>
            <a:ext cx="7132320" cy="640080"/>
          </a:xfrm>
          <a:prstGeom prst="rect">
            <a:avLst/>
          </a:prstGeom>
          <a:noFill/>
          <a:ln/>
        </p:spPr>
        <p:txBody>
          <a:bodyPr wrap="square" rtlCol="0" anchor="ctr"/>
          <a:lstStyle/>
          <a:p>
            <a:pPr indent="0" marL="0">
              <a:buNone/>
            </a:pPr>
            <a:r>
              <a:rPr lang="en-US" sz="1400" dirty="0">
                <a:solidFill>
                  <a:srgbClr val="94A3B8"/>
                </a:solidFill>
                <a:latin typeface="Malgun Gothic" pitchFamily="34" charset="0"/>
                <a:ea typeface="Malgun Gothic" pitchFamily="34" charset="-122"/>
                <a:cs typeface="Malgun Gothic" pitchFamily="34" charset="-120"/>
              </a:rPr>
              <a:t>환자 안전과 업무 효율을 위한 원클릭 당직 매칭 · 5단계 라우팅 엔진 · 실시간 동기화 플랫폼</a:t>
            </a:r>
            <a:endParaRPr lang="en-US" sz="1400" dirty="0"/>
          </a:p>
        </p:txBody>
      </p:sp>
      <p:sp>
        <p:nvSpPr>
          <p:cNvPr id="9" name="Shape 7"/>
          <p:cNvSpPr/>
          <p:nvPr/>
        </p:nvSpPr>
        <p:spPr>
          <a:xfrm>
            <a:off x="914400" y="4937760"/>
            <a:ext cx="6858000" cy="45720"/>
          </a:xfrm>
          <a:prstGeom prst="rect">
            <a:avLst/>
          </a:prstGeom>
          <a:solidFill>
            <a:srgbClr val="0284C7"/>
          </a:solidFill>
          <a:ln/>
        </p:spPr>
      </p:sp>
      <p:sp>
        <p:nvSpPr>
          <p:cNvPr id="10" name="Text 8"/>
          <p:cNvSpPr/>
          <p:nvPr/>
        </p:nvSpPr>
        <p:spPr>
          <a:xfrm>
            <a:off x="914400" y="5120640"/>
            <a:ext cx="6858000" cy="365760"/>
          </a:xfrm>
          <a:prstGeom prst="rect">
            <a:avLst/>
          </a:prstGeom>
          <a:noFill/>
          <a:ln/>
        </p:spPr>
        <p:txBody>
          <a:bodyPr wrap="square" rtlCol="0" anchor="ctr"/>
          <a:lstStyle/>
          <a:p>
            <a:pPr indent="0" marL="0">
              <a:buNone/>
            </a:pPr>
            <a:r>
              <a:rPr lang="en-US" sz="1200" dirty="0">
                <a:solidFill>
                  <a:srgbClr val="CBD5E1"/>
                </a:solidFill>
                <a:latin typeface="Malgun Gothic" pitchFamily="34" charset="0"/>
                <a:ea typeface="Malgun Gothic" pitchFamily="34" charset="-122"/>
                <a:cs typeface="Malgun Gothic" pitchFamily="34" charset="-120"/>
              </a:rPr>
              <a:t>개발 및 운영팀  |  2026 시스템 구축 및 배포 완료 보고</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284C7"/>
          </a:solidFill>
          <a:ln/>
        </p:spPr>
      </p:sp>
      <p:sp>
        <p:nvSpPr>
          <p:cNvPr id="3" name="Text 1"/>
          <p:cNvSpPr/>
          <p:nvPr/>
        </p:nvSpPr>
        <p:spPr>
          <a:xfrm>
            <a:off x="731520" y="320040"/>
            <a:ext cx="7315200" cy="228600"/>
          </a:xfrm>
          <a:prstGeom prst="rect">
            <a:avLst/>
          </a:prstGeom>
          <a:noFill/>
          <a:ln/>
        </p:spPr>
        <p:txBody>
          <a:bodyPr wrap="square" rtlCol="0" anchor="ctr"/>
          <a:lstStyle/>
          <a:p>
            <a:pPr indent="0" marL="0">
              <a:buNone/>
            </a:pPr>
            <a:r>
              <a:rPr lang="en-US" sz="1000" b="1" dirty="0">
                <a:solidFill>
                  <a:srgbClr val="0284C7"/>
                </a:solidFill>
                <a:latin typeface="Malgun Gothic" pitchFamily="34" charset="0"/>
                <a:ea typeface="Malgun Gothic" pitchFamily="34" charset="-122"/>
                <a:cs typeface="Malgun Gothic" pitchFamily="34" charset="-120"/>
              </a:rPr>
              <a:t>BACKGROUND &amp; PROBLEM DEFINITION</a:t>
            </a:r>
            <a:endParaRPr lang="en-US" sz="1000" dirty="0"/>
          </a:p>
        </p:txBody>
      </p:sp>
      <p:sp>
        <p:nvSpPr>
          <p:cNvPr id="4" name="Text 2"/>
          <p:cNvSpPr/>
          <p:nvPr/>
        </p:nvSpPr>
        <p:spPr>
          <a:xfrm>
            <a:off x="731520" y="548640"/>
            <a:ext cx="9144000" cy="502920"/>
          </a:xfrm>
          <a:prstGeom prst="rect">
            <a:avLst/>
          </a:prstGeom>
          <a:noFill/>
          <a:ln/>
        </p:spPr>
        <p:txBody>
          <a:bodyPr wrap="square" rtlCol="0" anchor="ctr"/>
          <a:lstStyle/>
          <a:p>
            <a:pPr indent="0" marL="0">
              <a:buNone/>
            </a:pPr>
            <a:r>
              <a:rPr lang="en-US" sz="2000" b="1" dirty="0">
                <a:solidFill>
                  <a:srgbClr val="0F172A"/>
                </a:solidFill>
                <a:latin typeface="Malgun Gothic" pitchFamily="34" charset="0"/>
                <a:ea typeface="Malgun Gothic" pitchFamily="34" charset="-122"/>
                <a:cs typeface="Malgun Gothic" pitchFamily="34" charset="-120"/>
              </a:rPr>
              <a:t>도입 배경 및 기존 병동 현장의 Pain Points</a:t>
            </a:r>
            <a:endParaRPr lang="en-US" sz="2000" dirty="0"/>
          </a:p>
        </p:txBody>
      </p:sp>
      <p:sp>
        <p:nvSpPr>
          <p:cNvPr id="5" name="Text 3"/>
          <p:cNvSpPr/>
          <p:nvPr/>
        </p:nvSpPr>
        <p:spPr>
          <a:xfrm>
            <a:off x="10789920" y="457200"/>
            <a:ext cx="914400" cy="365760"/>
          </a:xfrm>
          <a:prstGeom prst="rect">
            <a:avLst/>
          </a:prstGeom>
          <a:noFill/>
          <a:ln/>
        </p:spPr>
        <p:txBody>
          <a:bodyPr wrap="square" rtlCol="0" anchor="ctr"/>
          <a:lstStyle/>
          <a:p>
            <a:pPr algn="r" indent="0" marL="0">
              <a:buNone/>
            </a:pPr>
            <a:r>
              <a:rPr lang="en-US" sz="1200" b="1" dirty="0">
                <a:solidFill>
                  <a:srgbClr val="475569"/>
                </a:solidFill>
                <a:latin typeface="Arial" pitchFamily="34" charset="0"/>
                <a:ea typeface="Arial" pitchFamily="34" charset="-122"/>
                <a:cs typeface="Arial" pitchFamily="34" charset="-120"/>
              </a:rPr>
              <a:t>02 / 10</a:t>
            </a:r>
            <a:endParaRPr lang="en-US" sz="1200" dirty="0"/>
          </a:p>
        </p:txBody>
      </p:sp>
      <p:sp>
        <p:nvSpPr>
          <p:cNvPr id="6" name="Shape 4"/>
          <p:cNvSpPr/>
          <p:nvPr/>
        </p:nvSpPr>
        <p:spPr>
          <a:xfrm>
            <a:off x="731520" y="1143000"/>
            <a:ext cx="10698480" cy="0"/>
          </a:xfrm>
          <a:prstGeom prst="line">
            <a:avLst/>
          </a:prstGeom>
          <a:noFill/>
          <a:ln w="19050">
            <a:solidFill>
              <a:srgbClr val="E2E8F0"/>
            </a:solidFill>
            <a:prstDash val="solid"/>
          </a:ln>
        </p:spPr>
      </p:sp>
      <p:sp>
        <p:nvSpPr>
          <p:cNvPr id="7" name="Text 5"/>
          <p:cNvSpPr/>
          <p:nvPr/>
        </p:nvSpPr>
        <p:spPr>
          <a:xfrm>
            <a:off x="731520" y="1234440"/>
            <a:ext cx="10515600" cy="365760"/>
          </a:xfrm>
          <a:prstGeom prst="rect">
            <a:avLst/>
          </a:prstGeom>
          <a:noFill/>
          <a:ln/>
        </p:spPr>
        <p:txBody>
          <a:bodyPr wrap="square" rtlCol="0" anchor="ctr"/>
          <a:lstStyle/>
          <a:p>
            <a:pPr indent="0" marL="0">
              <a:buNone/>
            </a:pPr>
            <a:r>
              <a:rPr lang="en-US" sz="1200" dirty="0">
                <a:solidFill>
                  <a:srgbClr val="475569"/>
                </a:solidFill>
                <a:latin typeface="Malgun Gothic" pitchFamily="34" charset="0"/>
                <a:ea typeface="Malgun Gothic" pitchFamily="34" charset="-122"/>
                <a:cs typeface="Malgun Gothic" pitchFamily="34" charset="-120"/>
              </a:rPr>
              <a:t>기존에는 시시각각 변하는 당직자와 전담간호사를 수기로 파악하느라 불필요한 시간 소모와 잦은 오콜이 발생했습니다.</a:t>
            </a:r>
            <a:endParaRPr lang="en-US" sz="1200" dirty="0"/>
          </a:p>
        </p:txBody>
      </p:sp>
      <p:sp>
        <p:nvSpPr>
          <p:cNvPr id="8" name="Shape 6"/>
          <p:cNvSpPr/>
          <p:nvPr/>
        </p:nvSpPr>
        <p:spPr>
          <a:xfrm>
            <a:off x="731520" y="1691640"/>
            <a:ext cx="5120640" cy="1828800"/>
          </a:xfrm>
          <a:prstGeom prst="roundRect">
            <a:avLst>
              <a:gd name="adj" fmla="val 7500"/>
            </a:avLst>
          </a:prstGeom>
          <a:solidFill>
            <a:srgbClr val="FFFFFF"/>
          </a:solidFill>
          <a:ln w="12700">
            <a:solidFill>
              <a:srgbClr val="CBD5E1"/>
            </a:solidFill>
            <a:prstDash val="solid"/>
          </a:ln>
        </p:spPr>
      </p:sp>
      <p:sp>
        <p:nvSpPr>
          <p:cNvPr id="9" name="Shape 7"/>
          <p:cNvSpPr/>
          <p:nvPr/>
        </p:nvSpPr>
        <p:spPr>
          <a:xfrm>
            <a:off x="731520" y="1691640"/>
            <a:ext cx="137160" cy="1828800"/>
          </a:xfrm>
          <a:prstGeom prst="roundRect">
            <a:avLst>
              <a:gd name="adj" fmla="val 33333"/>
            </a:avLst>
          </a:prstGeom>
          <a:solidFill>
            <a:srgbClr val="D97706"/>
          </a:solidFill>
          <a:ln/>
        </p:spPr>
      </p:sp>
      <p:sp>
        <p:nvSpPr>
          <p:cNvPr id="10" name="Shape 8"/>
          <p:cNvSpPr/>
          <p:nvPr/>
        </p:nvSpPr>
        <p:spPr>
          <a:xfrm>
            <a:off x="1051560" y="1920240"/>
            <a:ext cx="1097280" cy="256032"/>
          </a:xfrm>
          <a:prstGeom prst="rect">
            <a:avLst/>
          </a:prstGeom>
          <a:solidFill>
            <a:srgbClr val="D97706"/>
          </a:solidFill>
          <a:ln w="12700">
            <a:solidFill>
              <a:srgbClr val="D97706"/>
            </a:solidFill>
            <a:prstDash val="solid"/>
          </a:ln>
        </p:spPr>
      </p:sp>
      <p:sp>
        <p:nvSpPr>
          <p:cNvPr id="11" name="Text 9"/>
          <p:cNvSpPr/>
          <p:nvPr/>
        </p:nvSpPr>
        <p:spPr>
          <a:xfrm>
            <a:off x="1051560" y="1920240"/>
            <a:ext cx="1097280" cy="256032"/>
          </a:xfrm>
          <a:prstGeom prst="rect">
            <a:avLst/>
          </a:prstGeom>
          <a:noFill/>
          <a:ln/>
        </p:spPr>
        <p:txBody>
          <a:bodyPr wrap="square"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시간 낭비</a:t>
            </a:r>
            <a:endParaRPr lang="en-US" sz="900" dirty="0"/>
          </a:p>
        </p:txBody>
      </p:sp>
      <p:sp>
        <p:nvSpPr>
          <p:cNvPr id="12" name="Text 10"/>
          <p:cNvSpPr/>
          <p:nvPr/>
        </p:nvSpPr>
        <p:spPr>
          <a:xfrm>
            <a:off x="2286000" y="1920240"/>
            <a:ext cx="3291840" cy="274320"/>
          </a:xfrm>
          <a:prstGeom prst="rect">
            <a:avLst/>
          </a:prstGeom>
          <a:noFill/>
          <a:ln/>
        </p:spPr>
        <p:txBody>
          <a:bodyPr wrap="square" rtlCol="0" anchor="ctr"/>
          <a:lstStyle/>
          <a:p>
            <a:pPr indent="0" marL="0">
              <a:buNone/>
            </a:pPr>
            <a:r>
              <a:rPr lang="en-US" sz="1300" b="1" dirty="0">
                <a:solidFill>
                  <a:srgbClr val="0F172A"/>
                </a:solidFill>
                <a:latin typeface="Malgun Gothic" pitchFamily="34" charset="0"/>
                <a:ea typeface="Malgun Gothic" pitchFamily="34" charset="-122"/>
                <a:cs typeface="Malgun Gothic" pitchFamily="34" charset="-120"/>
              </a:rPr>
              <a:t>1. 복잡한 수기 확인의 비효율</a:t>
            </a:r>
            <a:endParaRPr lang="en-US" sz="1300" dirty="0"/>
          </a:p>
        </p:txBody>
      </p:sp>
      <p:sp>
        <p:nvSpPr>
          <p:cNvPr id="13" name="Text 11"/>
          <p:cNvSpPr/>
          <p:nvPr/>
        </p:nvSpPr>
        <p:spPr>
          <a:xfrm>
            <a:off x="1051560" y="2313432"/>
            <a:ext cx="4572000" cy="1051560"/>
          </a:xfrm>
          <a:prstGeom prst="rect">
            <a:avLst/>
          </a:prstGeom>
          <a:noFill/>
          <a:ln/>
        </p:spPr>
        <p:txBody>
          <a:bodyPr wrap="square" rtlCol="0" anchor="ctr"/>
          <a:lstStyle/>
          <a:p>
            <a:pPr indent="0" marL="0">
              <a:lnSpc>
                <a:spcPts val="1600"/>
              </a:lnSpc>
              <a:buNone/>
            </a:pPr>
            <a:r>
              <a:rPr lang="en-US" sz="1050" dirty="0">
                <a:solidFill>
                  <a:srgbClr val="475569"/>
                </a:solidFill>
                <a:latin typeface="Malgun Gothic" pitchFamily="34" charset="0"/>
                <a:ea typeface="Malgun Gothic" pitchFamily="34" charset="-122"/>
                <a:cs typeface="Malgun Gothic" pitchFamily="34" charset="-120"/>
              </a:rPr>
              <a:t>종이 당직표, 엑셀 출력물, 단체 메신저를 일일이 대조하여 당직의를 찾느라 환자 처치 골든타임 지연 (확인에 2~3분 소요)</a:t>
            </a:r>
            <a:endParaRPr lang="en-US" sz="1050" dirty="0"/>
          </a:p>
        </p:txBody>
      </p:sp>
      <p:sp>
        <p:nvSpPr>
          <p:cNvPr id="14" name="Shape 12"/>
          <p:cNvSpPr/>
          <p:nvPr/>
        </p:nvSpPr>
        <p:spPr>
          <a:xfrm>
            <a:off x="6126480" y="1691640"/>
            <a:ext cx="5120640" cy="1828800"/>
          </a:xfrm>
          <a:prstGeom prst="roundRect">
            <a:avLst>
              <a:gd name="adj" fmla="val 7500"/>
            </a:avLst>
          </a:prstGeom>
          <a:solidFill>
            <a:srgbClr val="FFFFFF"/>
          </a:solidFill>
          <a:ln w="12700">
            <a:solidFill>
              <a:srgbClr val="CBD5E1"/>
            </a:solidFill>
            <a:prstDash val="solid"/>
          </a:ln>
        </p:spPr>
      </p:sp>
      <p:sp>
        <p:nvSpPr>
          <p:cNvPr id="15" name="Shape 13"/>
          <p:cNvSpPr/>
          <p:nvPr/>
        </p:nvSpPr>
        <p:spPr>
          <a:xfrm>
            <a:off x="6126480" y="1691640"/>
            <a:ext cx="137160" cy="1828800"/>
          </a:xfrm>
          <a:prstGeom prst="roundRect">
            <a:avLst>
              <a:gd name="adj" fmla="val 33333"/>
            </a:avLst>
          </a:prstGeom>
          <a:solidFill>
            <a:srgbClr val="E11D48"/>
          </a:solidFill>
          <a:ln/>
        </p:spPr>
      </p:sp>
      <p:sp>
        <p:nvSpPr>
          <p:cNvPr id="16" name="Shape 14"/>
          <p:cNvSpPr/>
          <p:nvPr/>
        </p:nvSpPr>
        <p:spPr>
          <a:xfrm>
            <a:off x="6446520" y="1920240"/>
            <a:ext cx="1097280" cy="256032"/>
          </a:xfrm>
          <a:prstGeom prst="rect">
            <a:avLst/>
          </a:prstGeom>
          <a:solidFill>
            <a:srgbClr val="E11D48"/>
          </a:solidFill>
          <a:ln w="12700">
            <a:solidFill>
              <a:srgbClr val="E11D48"/>
            </a:solidFill>
            <a:prstDash val="solid"/>
          </a:ln>
        </p:spPr>
      </p:sp>
      <p:sp>
        <p:nvSpPr>
          <p:cNvPr id="17" name="Text 15"/>
          <p:cNvSpPr/>
          <p:nvPr/>
        </p:nvSpPr>
        <p:spPr>
          <a:xfrm>
            <a:off x="6446520" y="1920240"/>
            <a:ext cx="1097280" cy="256032"/>
          </a:xfrm>
          <a:prstGeom prst="rect">
            <a:avLst/>
          </a:prstGeom>
          <a:noFill/>
          <a:ln/>
        </p:spPr>
        <p:txBody>
          <a:bodyPr wrap="square"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의료진 갈등</a:t>
            </a:r>
            <a:endParaRPr lang="en-US" sz="900" dirty="0"/>
          </a:p>
        </p:txBody>
      </p:sp>
      <p:sp>
        <p:nvSpPr>
          <p:cNvPr id="18" name="Text 16"/>
          <p:cNvSpPr/>
          <p:nvPr/>
        </p:nvSpPr>
        <p:spPr>
          <a:xfrm>
            <a:off x="7680960" y="1920240"/>
            <a:ext cx="3291840" cy="274320"/>
          </a:xfrm>
          <a:prstGeom prst="rect">
            <a:avLst/>
          </a:prstGeom>
          <a:noFill/>
          <a:ln/>
        </p:spPr>
        <p:txBody>
          <a:bodyPr wrap="square" rtlCol="0" anchor="ctr"/>
          <a:lstStyle/>
          <a:p>
            <a:pPr indent="0" marL="0">
              <a:buNone/>
            </a:pPr>
            <a:r>
              <a:rPr lang="en-US" sz="1300" b="1" dirty="0">
                <a:solidFill>
                  <a:srgbClr val="0F172A"/>
                </a:solidFill>
                <a:latin typeface="Malgun Gothic" pitchFamily="34" charset="0"/>
                <a:ea typeface="Malgun Gothic" pitchFamily="34" charset="-122"/>
                <a:cs typeface="Malgun Gothic" pitchFamily="34" charset="-120"/>
              </a:rPr>
              <a:t>2. 잦은 오콜(Wrong Call) 발생</a:t>
            </a:r>
            <a:endParaRPr lang="en-US" sz="1300" dirty="0"/>
          </a:p>
        </p:txBody>
      </p:sp>
      <p:sp>
        <p:nvSpPr>
          <p:cNvPr id="19" name="Text 17"/>
          <p:cNvSpPr/>
          <p:nvPr/>
        </p:nvSpPr>
        <p:spPr>
          <a:xfrm>
            <a:off x="6446520" y="2313432"/>
            <a:ext cx="4572000" cy="1051560"/>
          </a:xfrm>
          <a:prstGeom prst="rect">
            <a:avLst/>
          </a:prstGeom>
          <a:noFill/>
          <a:ln/>
        </p:spPr>
        <p:txBody>
          <a:bodyPr wrap="square" rtlCol="0" anchor="ctr"/>
          <a:lstStyle/>
          <a:p>
            <a:pPr indent="0" marL="0">
              <a:lnSpc>
                <a:spcPts val="1600"/>
              </a:lnSpc>
              <a:buNone/>
            </a:pPr>
            <a:r>
              <a:rPr lang="en-US" sz="1050" dirty="0">
                <a:solidFill>
                  <a:srgbClr val="475569"/>
                </a:solidFill>
                <a:latin typeface="Malgun Gothic" pitchFamily="34" charset="0"/>
                <a:ea typeface="Malgun Gothic" pitchFamily="34" charset="-122"/>
                <a:cs typeface="Malgun Gothic" pitchFamily="34" charset="-120"/>
              </a:rPr>
              <a:t>진료과(내과/비내과), 병동군, 시간대(정규/이브닝/심야), 요일별로 담당자가 달라 휴식 중인 비당직의에게 잘못 전화가 걸리는 갈등 빈발</a:t>
            </a:r>
            <a:endParaRPr lang="en-US" sz="1050" dirty="0"/>
          </a:p>
        </p:txBody>
      </p:sp>
      <p:sp>
        <p:nvSpPr>
          <p:cNvPr id="20" name="Shape 18"/>
          <p:cNvSpPr/>
          <p:nvPr/>
        </p:nvSpPr>
        <p:spPr>
          <a:xfrm>
            <a:off x="731520" y="3703320"/>
            <a:ext cx="5120640" cy="1828800"/>
          </a:xfrm>
          <a:prstGeom prst="roundRect">
            <a:avLst>
              <a:gd name="adj" fmla="val 7500"/>
            </a:avLst>
          </a:prstGeom>
          <a:solidFill>
            <a:srgbClr val="FFFFFF"/>
          </a:solidFill>
          <a:ln w="12700">
            <a:solidFill>
              <a:srgbClr val="CBD5E1"/>
            </a:solidFill>
            <a:prstDash val="solid"/>
          </a:ln>
        </p:spPr>
      </p:sp>
      <p:sp>
        <p:nvSpPr>
          <p:cNvPr id="21" name="Shape 19"/>
          <p:cNvSpPr/>
          <p:nvPr/>
        </p:nvSpPr>
        <p:spPr>
          <a:xfrm>
            <a:off x="731520" y="3703320"/>
            <a:ext cx="137160" cy="1828800"/>
          </a:xfrm>
          <a:prstGeom prst="roundRect">
            <a:avLst>
              <a:gd name="adj" fmla="val 33333"/>
            </a:avLst>
          </a:prstGeom>
          <a:solidFill>
            <a:srgbClr val="0284C7"/>
          </a:solidFill>
          <a:ln/>
        </p:spPr>
      </p:sp>
      <p:sp>
        <p:nvSpPr>
          <p:cNvPr id="22" name="Shape 20"/>
          <p:cNvSpPr/>
          <p:nvPr/>
        </p:nvSpPr>
        <p:spPr>
          <a:xfrm>
            <a:off x="1051560" y="3931920"/>
            <a:ext cx="1097280" cy="256032"/>
          </a:xfrm>
          <a:prstGeom prst="rect">
            <a:avLst/>
          </a:prstGeom>
          <a:solidFill>
            <a:srgbClr val="0284C7"/>
          </a:solidFill>
          <a:ln w="12700">
            <a:solidFill>
              <a:srgbClr val="0284C7"/>
            </a:solidFill>
            <a:prstDash val="solid"/>
          </a:ln>
        </p:spPr>
      </p:sp>
      <p:sp>
        <p:nvSpPr>
          <p:cNvPr id="23" name="Text 21"/>
          <p:cNvSpPr/>
          <p:nvPr/>
        </p:nvSpPr>
        <p:spPr>
          <a:xfrm>
            <a:off x="1051560" y="3931920"/>
            <a:ext cx="1097280" cy="256032"/>
          </a:xfrm>
          <a:prstGeom prst="rect">
            <a:avLst/>
          </a:prstGeom>
          <a:noFill/>
          <a:ln/>
        </p:spPr>
        <p:txBody>
          <a:bodyPr wrap="square"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업무 혼선</a:t>
            </a:r>
            <a:endParaRPr lang="en-US" sz="900" dirty="0"/>
          </a:p>
        </p:txBody>
      </p:sp>
      <p:sp>
        <p:nvSpPr>
          <p:cNvPr id="24" name="Text 22"/>
          <p:cNvSpPr/>
          <p:nvPr/>
        </p:nvSpPr>
        <p:spPr>
          <a:xfrm>
            <a:off x="2286000" y="3931920"/>
            <a:ext cx="3291840" cy="274320"/>
          </a:xfrm>
          <a:prstGeom prst="rect">
            <a:avLst/>
          </a:prstGeom>
          <a:noFill/>
          <a:ln/>
        </p:spPr>
        <p:txBody>
          <a:bodyPr wrap="square" rtlCol="0" anchor="ctr"/>
          <a:lstStyle/>
          <a:p>
            <a:pPr indent="0" marL="0">
              <a:buNone/>
            </a:pPr>
            <a:r>
              <a:rPr lang="en-US" sz="1300" b="1" dirty="0">
                <a:solidFill>
                  <a:srgbClr val="0F172A"/>
                </a:solidFill>
                <a:latin typeface="Malgun Gothic" pitchFamily="34" charset="0"/>
                <a:ea typeface="Malgun Gothic" pitchFamily="34" charset="-122"/>
                <a:cs typeface="Malgun Gothic" pitchFamily="34" charset="-120"/>
              </a:rPr>
              <a:t>3. 전담간호사 vs 의사 경계 모호</a:t>
            </a:r>
            <a:endParaRPr lang="en-US" sz="1300" dirty="0"/>
          </a:p>
        </p:txBody>
      </p:sp>
      <p:sp>
        <p:nvSpPr>
          <p:cNvPr id="25" name="Text 23"/>
          <p:cNvSpPr/>
          <p:nvPr/>
        </p:nvSpPr>
        <p:spPr>
          <a:xfrm>
            <a:off x="1051560" y="4325112"/>
            <a:ext cx="4572000" cy="1051560"/>
          </a:xfrm>
          <a:prstGeom prst="rect">
            <a:avLst/>
          </a:prstGeom>
          <a:noFill/>
          <a:ln/>
        </p:spPr>
        <p:txBody>
          <a:bodyPr wrap="square" rtlCol="0" anchor="ctr"/>
          <a:lstStyle/>
          <a:p>
            <a:pPr indent="0" marL="0">
              <a:lnSpc>
                <a:spcPts val="1600"/>
              </a:lnSpc>
              <a:buNone/>
            </a:pPr>
            <a:r>
              <a:rPr lang="en-US" sz="1050" dirty="0">
                <a:solidFill>
                  <a:srgbClr val="475569"/>
                </a:solidFill>
                <a:latin typeface="Malgun Gothic" pitchFamily="34" charset="0"/>
                <a:ea typeface="Malgun Gothic" pitchFamily="34" charset="-122"/>
                <a:cs typeface="Malgun Gothic" pitchFamily="34" charset="-120"/>
              </a:rPr>
              <a:t>어떤 술기(채혈, L-tube, Foley 등)가 전담간호사 지원 대상인지, 수혈동의서는 누구에게 콜해야 하는지 병동별 기준 혼선</a:t>
            </a:r>
            <a:endParaRPr lang="en-US" sz="1050" dirty="0"/>
          </a:p>
        </p:txBody>
      </p:sp>
      <p:sp>
        <p:nvSpPr>
          <p:cNvPr id="26" name="Shape 24"/>
          <p:cNvSpPr/>
          <p:nvPr/>
        </p:nvSpPr>
        <p:spPr>
          <a:xfrm>
            <a:off x="6126480" y="3703320"/>
            <a:ext cx="5120640" cy="1828800"/>
          </a:xfrm>
          <a:prstGeom prst="roundRect">
            <a:avLst>
              <a:gd name="adj" fmla="val 7500"/>
            </a:avLst>
          </a:prstGeom>
          <a:solidFill>
            <a:srgbClr val="FFFFFF"/>
          </a:solidFill>
          <a:ln w="12700">
            <a:solidFill>
              <a:srgbClr val="CBD5E1"/>
            </a:solidFill>
            <a:prstDash val="solid"/>
          </a:ln>
        </p:spPr>
      </p:sp>
      <p:sp>
        <p:nvSpPr>
          <p:cNvPr id="27" name="Shape 25"/>
          <p:cNvSpPr/>
          <p:nvPr/>
        </p:nvSpPr>
        <p:spPr>
          <a:xfrm>
            <a:off x="6126480" y="3703320"/>
            <a:ext cx="137160" cy="1828800"/>
          </a:xfrm>
          <a:prstGeom prst="roundRect">
            <a:avLst>
              <a:gd name="adj" fmla="val 33333"/>
            </a:avLst>
          </a:prstGeom>
          <a:solidFill>
            <a:srgbClr val="0D9488"/>
          </a:solidFill>
          <a:ln/>
        </p:spPr>
      </p:sp>
      <p:sp>
        <p:nvSpPr>
          <p:cNvPr id="28" name="Shape 26"/>
          <p:cNvSpPr/>
          <p:nvPr/>
        </p:nvSpPr>
        <p:spPr>
          <a:xfrm>
            <a:off x="6446520" y="3931920"/>
            <a:ext cx="1097280" cy="256032"/>
          </a:xfrm>
          <a:prstGeom prst="rect">
            <a:avLst/>
          </a:prstGeom>
          <a:solidFill>
            <a:srgbClr val="0D9488"/>
          </a:solidFill>
          <a:ln w="12700">
            <a:solidFill>
              <a:srgbClr val="0D9488"/>
            </a:solidFill>
            <a:prstDash val="solid"/>
          </a:ln>
        </p:spPr>
      </p:sp>
      <p:sp>
        <p:nvSpPr>
          <p:cNvPr id="29" name="Text 27"/>
          <p:cNvSpPr/>
          <p:nvPr/>
        </p:nvSpPr>
        <p:spPr>
          <a:xfrm>
            <a:off x="6446520" y="3931920"/>
            <a:ext cx="1097280" cy="256032"/>
          </a:xfrm>
          <a:prstGeom prst="rect">
            <a:avLst/>
          </a:prstGeom>
          <a:noFill/>
          <a:ln/>
        </p:spPr>
        <p:txBody>
          <a:bodyPr wrap="square"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업데이트 부재</a:t>
            </a:r>
            <a:endParaRPr lang="en-US" sz="900" dirty="0"/>
          </a:p>
        </p:txBody>
      </p:sp>
      <p:sp>
        <p:nvSpPr>
          <p:cNvPr id="30" name="Text 28"/>
          <p:cNvSpPr/>
          <p:nvPr/>
        </p:nvSpPr>
        <p:spPr>
          <a:xfrm>
            <a:off x="7680960" y="3931920"/>
            <a:ext cx="3291840" cy="274320"/>
          </a:xfrm>
          <a:prstGeom prst="rect">
            <a:avLst/>
          </a:prstGeom>
          <a:noFill/>
          <a:ln/>
        </p:spPr>
        <p:txBody>
          <a:bodyPr wrap="square" rtlCol="0" anchor="ctr"/>
          <a:lstStyle/>
          <a:p>
            <a:pPr indent="0" marL="0">
              <a:buNone/>
            </a:pPr>
            <a:r>
              <a:rPr lang="en-US" sz="1300" b="1" dirty="0">
                <a:solidFill>
                  <a:srgbClr val="0F172A"/>
                </a:solidFill>
                <a:latin typeface="Malgun Gothic" pitchFamily="34" charset="0"/>
                <a:ea typeface="Malgun Gothic" pitchFamily="34" charset="-122"/>
                <a:cs typeface="Malgun Gothic" pitchFamily="34" charset="-120"/>
              </a:rPr>
              <a:t>4. 당직 스케줄 변경 전파 지연</a:t>
            </a:r>
            <a:endParaRPr lang="en-US" sz="1300" dirty="0"/>
          </a:p>
        </p:txBody>
      </p:sp>
      <p:sp>
        <p:nvSpPr>
          <p:cNvPr id="31" name="Text 29"/>
          <p:cNvSpPr/>
          <p:nvPr/>
        </p:nvSpPr>
        <p:spPr>
          <a:xfrm>
            <a:off x="6446520" y="4325112"/>
            <a:ext cx="4572000" cy="1051560"/>
          </a:xfrm>
          <a:prstGeom prst="rect">
            <a:avLst/>
          </a:prstGeom>
          <a:noFill/>
          <a:ln/>
        </p:spPr>
        <p:txBody>
          <a:bodyPr wrap="square" rtlCol="0" anchor="ctr"/>
          <a:lstStyle/>
          <a:p>
            <a:pPr indent="0" marL="0">
              <a:lnSpc>
                <a:spcPts val="1600"/>
              </a:lnSpc>
              <a:buNone/>
            </a:pPr>
            <a:r>
              <a:rPr lang="en-US" sz="1050" dirty="0">
                <a:solidFill>
                  <a:srgbClr val="475569"/>
                </a:solidFill>
                <a:latin typeface="Malgun Gothic" pitchFamily="34" charset="0"/>
                <a:ea typeface="Malgun Gothic" pitchFamily="34" charset="-122"/>
                <a:cs typeface="Malgun Gothic" pitchFamily="34" charset="-120"/>
              </a:rPr>
              <a:t>연차, 대근, 스케줄 트레이드 발생 시 출력된 당직표에 즉시 반영되지 않아 과거 명단의 의사에게 연락 두절 발생</a:t>
            </a:r>
            <a:endParaRPr lang="en-US" sz="1050" dirty="0"/>
          </a:p>
        </p:txBody>
      </p:sp>
      <p:sp>
        <p:nvSpPr>
          <p:cNvPr id="32" name="Shape 30"/>
          <p:cNvSpPr/>
          <p:nvPr/>
        </p:nvSpPr>
        <p:spPr>
          <a:xfrm>
            <a:off x="731520" y="5806440"/>
            <a:ext cx="10515600" cy="594360"/>
          </a:xfrm>
          <a:prstGeom prst="roundRect">
            <a:avLst>
              <a:gd name="adj" fmla="val 15385"/>
            </a:avLst>
          </a:prstGeom>
          <a:solidFill>
            <a:srgbClr val="0F172A"/>
          </a:solidFill>
          <a:ln/>
        </p:spPr>
      </p:sp>
      <p:sp>
        <p:nvSpPr>
          <p:cNvPr id="33" name="Text 31"/>
          <p:cNvSpPr/>
          <p:nvPr/>
        </p:nvSpPr>
        <p:spPr>
          <a:xfrm>
            <a:off x="914400" y="5897880"/>
            <a:ext cx="10149840" cy="411480"/>
          </a:xfrm>
          <a:prstGeom prst="rect">
            <a:avLst/>
          </a:prstGeom>
          <a:noFill/>
          <a:ln/>
        </p:spPr>
        <p:txBody>
          <a:bodyPr wrap="square" rtlCol="0" anchor="ctr"/>
          <a:lstStyle/>
          <a:p>
            <a:pPr algn="ctr" indent="0" marL="0">
              <a:buNone/>
            </a:pPr>
            <a:r>
              <a:rPr lang="en-US" sz="1200" b="1" dirty="0">
                <a:solidFill>
                  <a:srgbClr val="06B6D4"/>
                </a:solidFill>
                <a:latin typeface="Malgun Gothic" pitchFamily="34" charset="0"/>
                <a:ea typeface="Malgun Gothic" pitchFamily="34" charset="-122"/>
                <a:cs typeface="Malgun Gothic" pitchFamily="34" charset="-120"/>
              </a:rPr>
              <a:t>💡 시스템 개발 목표: 진료계열 + 병동 + 요청업무 + 일시 선택 시 1초 만에 최적의 1순위 연락처와 백업 라인을 자동 도출!</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284C7"/>
          </a:solidFill>
          <a:ln/>
        </p:spPr>
      </p:sp>
      <p:sp>
        <p:nvSpPr>
          <p:cNvPr id="3" name="Text 1"/>
          <p:cNvSpPr/>
          <p:nvPr/>
        </p:nvSpPr>
        <p:spPr>
          <a:xfrm>
            <a:off x="731520" y="320040"/>
            <a:ext cx="7315200" cy="228600"/>
          </a:xfrm>
          <a:prstGeom prst="rect">
            <a:avLst/>
          </a:prstGeom>
          <a:noFill/>
          <a:ln/>
        </p:spPr>
        <p:txBody>
          <a:bodyPr wrap="square" rtlCol="0" anchor="ctr"/>
          <a:lstStyle/>
          <a:p>
            <a:pPr indent="0" marL="0">
              <a:buNone/>
            </a:pPr>
            <a:r>
              <a:rPr lang="en-US" sz="1000" b="1" dirty="0">
                <a:solidFill>
                  <a:srgbClr val="0284C7"/>
                </a:solidFill>
                <a:latin typeface="Malgun Gothic" pitchFamily="34" charset="0"/>
                <a:ea typeface="Malgun Gothic" pitchFamily="34" charset="-122"/>
                <a:cs typeface="Malgun Gothic" pitchFamily="34" charset="-120"/>
              </a:rPr>
              <a:t>SYSTEM ARCHITECTURE &amp; DATA FLOW</a:t>
            </a:r>
            <a:endParaRPr lang="en-US" sz="1000" dirty="0"/>
          </a:p>
        </p:txBody>
      </p:sp>
      <p:sp>
        <p:nvSpPr>
          <p:cNvPr id="4" name="Text 2"/>
          <p:cNvSpPr/>
          <p:nvPr/>
        </p:nvSpPr>
        <p:spPr>
          <a:xfrm>
            <a:off x="731520" y="548640"/>
            <a:ext cx="9144000" cy="502920"/>
          </a:xfrm>
          <a:prstGeom prst="rect">
            <a:avLst/>
          </a:prstGeom>
          <a:noFill/>
          <a:ln/>
        </p:spPr>
        <p:txBody>
          <a:bodyPr wrap="square" rtlCol="0" anchor="ctr"/>
          <a:lstStyle/>
          <a:p>
            <a:pPr indent="0" marL="0">
              <a:buNone/>
            </a:pPr>
            <a:r>
              <a:rPr lang="en-US" sz="2000" b="1" dirty="0">
                <a:solidFill>
                  <a:srgbClr val="0F172A"/>
                </a:solidFill>
                <a:latin typeface="Malgun Gothic" pitchFamily="34" charset="0"/>
                <a:ea typeface="Malgun Gothic" pitchFamily="34" charset="-122"/>
                <a:cs typeface="Malgun Gothic" pitchFamily="34" charset="-120"/>
              </a:rPr>
              <a:t>시스템 아키텍처 및 듀얼 뷰(Dual View) 구조</a:t>
            </a:r>
            <a:endParaRPr lang="en-US" sz="2000" dirty="0"/>
          </a:p>
        </p:txBody>
      </p:sp>
      <p:sp>
        <p:nvSpPr>
          <p:cNvPr id="5" name="Text 3"/>
          <p:cNvSpPr/>
          <p:nvPr/>
        </p:nvSpPr>
        <p:spPr>
          <a:xfrm>
            <a:off x="10789920" y="457200"/>
            <a:ext cx="914400" cy="365760"/>
          </a:xfrm>
          <a:prstGeom prst="rect">
            <a:avLst/>
          </a:prstGeom>
          <a:noFill/>
          <a:ln/>
        </p:spPr>
        <p:txBody>
          <a:bodyPr wrap="square" rtlCol="0" anchor="ctr"/>
          <a:lstStyle/>
          <a:p>
            <a:pPr algn="r" indent="0" marL="0">
              <a:buNone/>
            </a:pPr>
            <a:r>
              <a:rPr lang="en-US" sz="1200" b="1" dirty="0">
                <a:solidFill>
                  <a:srgbClr val="475569"/>
                </a:solidFill>
                <a:latin typeface="Arial" pitchFamily="34" charset="0"/>
                <a:ea typeface="Arial" pitchFamily="34" charset="-122"/>
                <a:cs typeface="Arial" pitchFamily="34" charset="-120"/>
              </a:rPr>
              <a:t>03 / 10</a:t>
            </a:r>
            <a:endParaRPr lang="en-US" sz="1200" dirty="0"/>
          </a:p>
        </p:txBody>
      </p:sp>
      <p:sp>
        <p:nvSpPr>
          <p:cNvPr id="6" name="Shape 4"/>
          <p:cNvSpPr/>
          <p:nvPr/>
        </p:nvSpPr>
        <p:spPr>
          <a:xfrm>
            <a:off x="731520" y="1143000"/>
            <a:ext cx="10698480" cy="0"/>
          </a:xfrm>
          <a:prstGeom prst="line">
            <a:avLst/>
          </a:prstGeom>
          <a:noFill/>
          <a:ln w="19050">
            <a:solidFill>
              <a:srgbClr val="E2E8F0"/>
            </a:solidFill>
            <a:prstDash val="solid"/>
          </a:ln>
        </p:spPr>
      </p:sp>
      <p:sp>
        <p:nvSpPr>
          <p:cNvPr id="7" name="Shape 5"/>
          <p:cNvSpPr/>
          <p:nvPr/>
        </p:nvSpPr>
        <p:spPr>
          <a:xfrm>
            <a:off x="731520" y="1371600"/>
            <a:ext cx="5120640" cy="4206240"/>
          </a:xfrm>
          <a:prstGeom prst="roundRect">
            <a:avLst>
              <a:gd name="adj" fmla="val 3261"/>
            </a:avLst>
          </a:prstGeom>
          <a:solidFill>
            <a:srgbClr val="FFFFFF"/>
          </a:solidFill>
          <a:ln w="25400">
            <a:solidFill>
              <a:srgbClr val="0284C7"/>
            </a:solidFill>
            <a:prstDash val="solid"/>
          </a:ln>
        </p:spPr>
      </p:sp>
      <p:sp>
        <p:nvSpPr>
          <p:cNvPr id="8" name="Shape 6"/>
          <p:cNvSpPr/>
          <p:nvPr/>
        </p:nvSpPr>
        <p:spPr>
          <a:xfrm>
            <a:off x="731520" y="1371600"/>
            <a:ext cx="5120640" cy="594360"/>
          </a:xfrm>
          <a:prstGeom prst="rect">
            <a:avLst/>
          </a:prstGeom>
          <a:solidFill>
            <a:srgbClr val="0284C7"/>
          </a:solidFill>
          <a:ln/>
        </p:spPr>
      </p:sp>
      <p:sp>
        <p:nvSpPr>
          <p:cNvPr id="9" name="Text 7"/>
          <p:cNvSpPr/>
          <p:nvPr/>
        </p:nvSpPr>
        <p:spPr>
          <a:xfrm>
            <a:off x="914400" y="1463040"/>
            <a:ext cx="4754880" cy="411480"/>
          </a:xfrm>
          <a:prstGeom prst="rect">
            <a:avLst/>
          </a:prstGeom>
          <a:noFill/>
          <a:ln/>
        </p:spPr>
        <p:txBody>
          <a:bodyPr wrap="square"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 임상 현장 화면 (User View)</a:t>
            </a:r>
            <a:endParaRPr lang="en-US" sz="1400" dirty="0"/>
          </a:p>
        </p:txBody>
      </p:sp>
      <p:sp>
        <p:nvSpPr>
          <p:cNvPr id="10" name="Text 8"/>
          <p:cNvSpPr/>
          <p:nvPr/>
        </p:nvSpPr>
        <p:spPr>
          <a:xfrm>
            <a:off x="1005840" y="2103120"/>
            <a:ext cx="4572000" cy="3291840"/>
          </a:xfrm>
          <a:prstGeom prst="rect">
            <a:avLst/>
          </a:prstGeom>
          <a:noFill/>
          <a:ln/>
        </p:spPr>
        <p:txBody>
          <a:bodyPr wrap="square" rtlCol="0" anchor="ctr"/>
          <a:lstStyle/>
          <a:p>
            <a:pPr indent="0" marL="0">
              <a:lnSpc>
                <a:spcPts val="1700"/>
              </a:lnSpc>
              <a:buNone/>
            </a:pPr>
            <a:r>
              <a:rPr lang="en-US" sz="1100" dirty="0">
                <a:solidFill>
                  <a:srgbClr val="0F172A"/>
                </a:solidFill>
                <a:latin typeface="Malgun Gothic" pitchFamily="34" charset="0"/>
                <a:ea typeface="Malgun Gothic" pitchFamily="34" charset="-122"/>
                <a:cs typeface="Malgun Gothic" pitchFamily="34" charset="-120"/>
              </a:rPr>
              <a:t>• 간호사용 초간결 4단계 호출 필터 (과/병동/업무/일시)</a:t>
            </a:r>
            <a:endParaRPr lang="en-US" sz="1100" dirty="0"/>
          </a:p>
          <a:p>
            <a:pPr indent="0" marL="0">
              <a:lnSpc>
                <a:spcPts val="1700"/>
              </a:lnSpc>
              <a:buNone/>
            </a:pPr>
            <a:endParaRPr lang="en-US" sz="1100" dirty="0"/>
          </a:p>
          <a:p>
            <a:pPr indent="0" marL="0">
              <a:lnSpc>
                <a:spcPts val="1700"/>
              </a:lnSpc>
              <a:buNone/>
            </a:pPr>
            <a:r>
              <a:rPr lang="en-US" sz="1100" dirty="0">
                <a:solidFill>
                  <a:srgbClr val="0F172A"/>
                </a:solidFill>
                <a:latin typeface="Malgun Gothic" pitchFamily="34" charset="0"/>
                <a:ea typeface="Malgun Gothic" pitchFamily="34" charset="-122"/>
                <a:cs typeface="Malgun Gothic" pitchFamily="34" charset="-120"/>
              </a:rPr>
              <a:t>• 최우선 배정 당직의 / 전담간호사 히어로 카드 제공</a:t>
            </a:r>
            <a:endParaRPr lang="en-US" sz="1100" dirty="0"/>
          </a:p>
          <a:p>
            <a:pPr indent="0" marL="0">
              <a:lnSpc>
                <a:spcPts val="1700"/>
              </a:lnSpc>
              <a:buNone/>
            </a:pPr>
            <a:endParaRPr lang="en-US" sz="1100" dirty="0"/>
          </a:p>
          <a:p>
            <a:pPr indent="0" marL="0">
              <a:lnSpc>
                <a:spcPts val="1700"/>
              </a:lnSpc>
              <a:buNone/>
            </a:pPr>
            <a:r>
              <a:rPr lang="en-US" sz="1100" dirty="0">
                <a:solidFill>
                  <a:srgbClr val="0F172A"/>
                </a:solidFill>
                <a:latin typeface="Malgun Gothic" pitchFamily="34" charset="0"/>
                <a:ea typeface="Malgun Gothic" pitchFamily="34" charset="-122"/>
                <a:cs typeface="Malgun Gothic" pitchFamily="34" charset="-120"/>
              </a:rPr>
              <a:t>• 원클릭 UCAP 바로걸기 &amp; 휴대폰 직통 다이얼 연동</a:t>
            </a:r>
            <a:endParaRPr lang="en-US" sz="1100" dirty="0"/>
          </a:p>
          <a:p>
            <a:pPr indent="0" marL="0">
              <a:lnSpc>
                <a:spcPts val="1700"/>
              </a:lnSpc>
              <a:buNone/>
            </a:pPr>
            <a:endParaRPr lang="en-US" sz="1100" dirty="0"/>
          </a:p>
          <a:p>
            <a:pPr indent="0" marL="0">
              <a:lnSpc>
                <a:spcPts val="1700"/>
              </a:lnSpc>
              <a:buNone/>
            </a:pPr>
            <a:r>
              <a:rPr lang="en-US" sz="1100" dirty="0">
                <a:solidFill>
                  <a:srgbClr val="0F172A"/>
                </a:solidFill>
                <a:latin typeface="Malgun Gothic" pitchFamily="34" charset="0"/>
                <a:ea typeface="Malgun Gothic" pitchFamily="34" charset="-122"/>
                <a:cs typeface="Malgun Gothic" pitchFamily="34" charset="-120"/>
              </a:rPr>
              <a:t>• DUMC 톡 ID 확인 및 1초 클립보드 복사</a:t>
            </a:r>
            <a:endParaRPr lang="en-US" sz="1100" dirty="0"/>
          </a:p>
          <a:p>
            <a:pPr indent="0" marL="0">
              <a:lnSpc>
                <a:spcPts val="1700"/>
              </a:lnSpc>
              <a:buNone/>
            </a:pPr>
            <a:endParaRPr lang="en-US" sz="1100" dirty="0"/>
          </a:p>
          <a:p>
            <a:pPr indent="0" marL="0">
              <a:lnSpc>
                <a:spcPts val="1700"/>
              </a:lnSpc>
              <a:buNone/>
            </a:pPr>
            <a:r>
              <a:rPr lang="en-US" sz="1100" dirty="0">
                <a:solidFill>
                  <a:srgbClr val="0F172A"/>
                </a:solidFill>
                <a:latin typeface="Malgun Gothic" pitchFamily="34" charset="0"/>
                <a:ea typeface="Malgun Gothic" pitchFamily="34" charset="-122"/>
                <a:cs typeface="Malgun Gothic" pitchFamily="34" charset="-120"/>
              </a:rPr>
              <a:t>• 업무마스터 임상 표준 가이드 &amp; 인계 주의사항 표시</a:t>
            </a:r>
            <a:endParaRPr lang="en-US" sz="1100" dirty="0"/>
          </a:p>
          <a:p>
            <a:pPr indent="0" marL="0">
              <a:lnSpc>
                <a:spcPts val="1700"/>
              </a:lnSpc>
              <a:buNone/>
            </a:pPr>
            <a:endParaRPr lang="en-US" sz="1100" dirty="0"/>
          </a:p>
          <a:p>
            <a:pPr indent="0" marL="0">
              <a:lnSpc>
                <a:spcPts val="1700"/>
              </a:lnSpc>
              <a:buNone/>
            </a:pPr>
            <a:r>
              <a:rPr lang="en-US" sz="1100" dirty="0">
                <a:solidFill>
                  <a:srgbClr val="0F172A"/>
                </a:solidFill>
                <a:latin typeface="Malgun Gothic" pitchFamily="34" charset="0"/>
                <a:ea typeface="Malgun Gothic" pitchFamily="34" charset="-122"/>
                <a:cs typeface="Malgun Gothic" pitchFamily="34" charset="-120"/>
              </a:rPr>
              <a:t>• 부재 시 1순위 / 2순위 비상 백업 연락처 동시 안내</a:t>
            </a:r>
            <a:endParaRPr lang="en-US" sz="1100" dirty="0"/>
          </a:p>
          <a:p>
            <a:pPr indent="0" marL="0">
              <a:lnSpc>
                <a:spcPts val="1700"/>
              </a:lnSpc>
              <a:buNone/>
            </a:pPr>
            <a:endParaRPr lang="en-US" sz="1100" dirty="0"/>
          </a:p>
          <a:p>
            <a:pPr indent="0" marL="0">
              <a:lnSpc>
                <a:spcPts val="1700"/>
              </a:lnSpc>
              <a:buNone/>
            </a:pPr>
            <a:r>
              <a:rPr lang="en-US" sz="1100" dirty="0">
                <a:solidFill>
                  <a:srgbClr val="0F172A"/>
                </a:solidFill>
                <a:latin typeface="Malgun Gothic" pitchFamily="34" charset="0"/>
                <a:ea typeface="Malgun Gothic" pitchFamily="34" charset="-122"/>
                <a:cs typeface="Malgun Gothic" pitchFamily="34" charset="-120"/>
              </a:rPr>
              <a:t>• "내 기본 병동" 브라우저 1초 기억 기능</a:t>
            </a:r>
            <a:endParaRPr lang="en-US" sz="1100" dirty="0"/>
          </a:p>
        </p:txBody>
      </p:sp>
      <p:sp>
        <p:nvSpPr>
          <p:cNvPr id="11" name="Shape 9"/>
          <p:cNvSpPr/>
          <p:nvPr/>
        </p:nvSpPr>
        <p:spPr>
          <a:xfrm>
            <a:off x="6126480" y="1371600"/>
            <a:ext cx="5120640" cy="4206240"/>
          </a:xfrm>
          <a:prstGeom prst="roundRect">
            <a:avLst>
              <a:gd name="adj" fmla="val 3261"/>
            </a:avLst>
          </a:prstGeom>
          <a:solidFill>
            <a:srgbClr val="FFFFFF"/>
          </a:solidFill>
          <a:ln w="25400">
            <a:solidFill>
              <a:srgbClr val="0D9488"/>
            </a:solidFill>
            <a:prstDash val="solid"/>
          </a:ln>
        </p:spPr>
      </p:sp>
      <p:sp>
        <p:nvSpPr>
          <p:cNvPr id="12" name="Shape 10"/>
          <p:cNvSpPr/>
          <p:nvPr/>
        </p:nvSpPr>
        <p:spPr>
          <a:xfrm>
            <a:off x="6126480" y="1371600"/>
            <a:ext cx="5120640" cy="594360"/>
          </a:xfrm>
          <a:prstGeom prst="rect">
            <a:avLst/>
          </a:prstGeom>
          <a:solidFill>
            <a:srgbClr val="0D9488"/>
          </a:solidFill>
          <a:ln/>
        </p:spPr>
      </p:sp>
      <p:sp>
        <p:nvSpPr>
          <p:cNvPr id="13" name="Text 11"/>
          <p:cNvSpPr/>
          <p:nvPr/>
        </p:nvSpPr>
        <p:spPr>
          <a:xfrm>
            <a:off x="6309360" y="1463040"/>
            <a:ext cx="4754880" cy="411480"/>
          </a:xfrm>
          <a:prstGeom prst="rect">
            <a:avLst/>
          </a:prstGeom>
          <a:noFill/>
          <a:ln/>
        </p:spPr>
        <p:txBody>
          <a:bodyPr wrap="square"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 운영 관리자 화면 (Admin View)</a:t>
            </a:r>
            <a:endParaRPr lang="en-US" sz="1400" dirty="0"/>
          </a:p>
        </p:txBody>
      </p:sp>
      <p:sp>
        <p:nvSpPr>
          <p:cNvPr id="14" name="Text 12"/>
          <p:cNvSpPr/>
          <p:nvPr/>
        </p:nvSpPr>
        <p:spPr>
          <a:xfrm>
            <a:off x="6400800" y="2103120"/>
            <a:ext cx="4572000" cy="3291840"/>
          </a:xfrm>
          <a:prstGeom prst="rect">
            <a:avLst/>
          </a:prstGeom>
          <a:noFill/>
          <a:ln/>
        </p:spPr>
        <p:txBody>
          <a:bodyPr wrap="square" rtlCol="0" anchor="ctr"/>
          <a:lstStyle/>
          <a:p>
            <a:pPr indent="0" marL="0">
              <a:lnSpc>
                <a:spcPts val="1700"/>
              </a:lnSpc>
              <a:buNone/>
            </a:pPr>
            <a:r>
              <a:rPr lang="en-US" sz="1100" dirty="0">
                <a:solidFill>
                  <a:srgbClr val="0F172A"/>
                </a:solidFill>
                <a:latin typeface="Malgun Gothic" pitchFamily="34" charset="0"/>
                <a:ea typeface="Malgun Gothic" pitchFamily="34" charset="-122"/>
                <a:cs typeface="Malgun Gothic" pitchFamily="34" charset="-120"/>
              </a:rPr>
              <a:t>• 월간 당직표 인터랙티브 캘린더 &amp; 그리드 편집기</a:t>
            </a:r>
            <a:endParaRPr lang="en-US" sz="1100" dirty="0"/>
          </a:p>
          <a:p>
            <a:pPr indent="0" marL="0">
              <a:lnSpc>
                <a:spcPts val="1700"/>
              </a:lnSpc>
              <a:buNone/>
            </a:pPr>
            <a:endParaRPr lang="en-US" sz="1100" dirty="0"/>
          </a:p>
          <a:p>
            <a:pPr indent="0" marL="0">
              <a:lnSpc>
                <a:spcPts val="1700"/>
              </a:lnSpc>
              <a:buNone/>
            </a:pPr>
            <a:r>
              <a:rPr lang="en-US" sz="1100" dirty="0">
                <a:solidFill>
                  <a:srgbClr val="0F172A"/>
                </a:solidFill>
                <a:latin typeface="Malgun Gothic" pitchFamily="34" charset="0"/>
                <a:ea typeface="Malgun Gothic" pitchFamily="34" charset="-122"/>
                <a:cs typeface="Malgun Gothic" pitchFamily="34" charset="-120"/>
              </a:rPr>
              <a:t>• 구글 스프레드시트(Google Sheets) 1분 자동 동기화</a:t>
            </a:r>
            <a:endParaRPr lang="en-US" sz="1100" dirty="0"/>
          </a:p>
          <a:p>
            <a:pPr indent="0" marL="0">
              <a:lnSpc>
                <a:spcPts val="1700"/>
              </a:lnSpc>
              <a:buNone/>
            </a:pPr>
            <a:endParaRPr lang="en-US" sz="1100" dirty="0"/>
          </a:p>
          <a:p>
            <a:pPr indent="0" marL="0">
              <a:lnSpc>
                <a:spcPts val="1700"/>
              </a:lnSpc>
              <a:buNone/>
            </a:pPr>
            <a:r>
              <a:rPr lang="en-US" sz="1100" dirty="0">
                <a:solidFill>
                  <a:srgbClr val="0F172A"/>
                </a:solidFill>
                <a:latin typeface="Malgun Gothic" pitchFamily="34" charset="0"/>
                <a:ea typeface="Malgun Gothic" pitchFamily="34" charset="-122"/>
                <a:cs typeface="Malgun Gothic" pitchFamily="34" charset="-120"/>
              </a:rPr>
              <a:t>• 병원 공식 엑셀 파일 드래그 앤 드롭 업로드 &amp; 파싱</a:t>
            </a:r>
            <a:endParaRPr lang="en-US" sz="1100" dirty="0"/>
          </a:p>
          <a:p>
            <a:pPr indent="0" marL="0">
              <a:lnSpc>
                <a:spcPts val="1700"/>
              </a:lnSpc>
              <a:buNone/>
            </a:pPr>
            <a:endParaRPr lang="en-US" sz="1100" dirty="0"/>
          </a:p>
          <a:p>
            <a:pPr indent="0" marL="0">
              <a:lnSpc>
                <a:spcPts val="1700"/>
              </a:lnSpc>
              <a:buNone/>
            </a:pPr>
            <a:r>
              <a:rPr lang="en-US" sz="1100" dirty="0">
                <a:solidFill>
                  <a:srgbClr val="0F172A"/>
                </a:solidFill>
                <a:latin typeface="Malgun Gothic" pitchFamily="34" charset="0"/>
                <a:ea typeface="Malgun Gothic" pitchFamily="34" charset="-122"/>
                <a:cs typeface="Malgun Gothic" pitchFamily="34" charset="-120"/>
              </a:rPr>
              <a:t>• 20종 표준 업무 마스터 (전담지원 여부, 시간대 규칙)</a:t>
            </a:r>
            <a:endParaRPr lang="en-US" sz="1100" dirty="0"/>
          </a:p>
          <a:p>
            <a:pPr indent="0" marL="0">
              <a:lnSpc>
                <a:spcPts val="1700"/>
              </a:lnSpc>
              <a:buNone/>
            </a:pPr>
            <a:endParaRPr lang="en-US" sz="1100" dirty="0"/>
          </a:p>
          <a:p>
            <a:pPr indent="0" marL="0">
              <a:lnSpc>
                <a:spcPts val="1700"/>
              </a:lnSpc>
              <a:buNone/>
            </a:pPr>
            <a:r>
              <a:rPr lang="en-US" sz="1100" dirty="0">
                <a:solidFill>
                  <a:srgbClr val="0F172A"/>
                </a:solidFill>
                <a:latin typeface="Malgun Gothic" pitchFamily="34" charset="0"/>
                <a:ea typeface="Malgun Gothic" pitchFamily="34" charset="-122"/>
                <a:cs typeface="Malgun Gothic" pitchFamily="34" charset="-120"/>
              </a:rPr>
              <a:t>• 노코드 규칙 빌더 (우선순위 기반 동적 룰 생성)</a:t>
            </a:r>
            <a:endParaRPr lang="en-US" sz="1100" dirty="0"/>
          </a:p>
          <a:p>
            <a:pPr indent="0" marL="0">
              <a:lnSpc>
                <a:spcPts val="1700"/>
              </a:lnSpc>
              <a:buNone/>
            </a:pPr>
            <a:endParaRPr lang="en-US" sz="1100" dirty="0"/>
          </a:p>
          <a:p>
            <a:pPr indent="0" marL="0">
              <a:lnSpc>
                <a:spcPts val="1700"/>
              </a:lnSpc>
              <a:buNone/>
            </a:pPr>
            <a:r>
              <a:rPr lang="en-US" sz="1100" dirty="0">
                <a:solidFill>
                  <a:srgbClr val="0F172A"/>
                </a:solidFill>
                <a:latin typeface="Malgun Gothic" pitchFamily="34" charset="0"/>
                <a:ea typeface="Malgun Gothic" pitchFamily="34" charset="-122"/>
                <a:cs typeface="Malgun Gothic" pitchFamily="34" charset="-120"/>
              </a:rPr>
              <a:t>• 공통전담간호 3교대 매트릭스 &amp; 포스트 연락처 관리</a:t>
            </a:r>
            <a:endParaRPr lang="en-US" sz="1100" dirty="0"/>
          </a:p>
          <a:p>
            <a:pPr indent="0" marL="0">
              <a:lnSpc>
                <a:spcPts val="1700"/>
              </a:lnSpc>
              <a:buNone/>
            </a:pPr>
            <a:endParaRPr lang="en-US" sz="1100" dirty="0"/>
          </a:p>
          <a:p>
            <a:pPr indent="0" marL="0">
              <a:lnSpc>
                <a:spcPts val="1700"/>
              </a:lnSpc>
              <a:buNone/>
            </a:pPr>
            <a:r>
              <a:rPr lang="en-US" sz="1100" dirty="0">
                <a:solidFill>
                  <a:srgbClr val="0F172A"/>
                </a:solidFill>
                <a:latin typeface="Malgun Gothic" pitchFamily="34" charset="0"/>
                <a:ea typeface="Malgun Gothic" pitchFamily="34" charset="-122"/>
                <a:cs typeface="Malgun Gothic" pitchFamily="34" charset="-120"/>
              </a:rPr>
              <a:t>• 최고관리자 전용 RBAC 회원 승인 &amp; 탭별 권한 제어</a:t>
            </a:r>
            <a:endParaRPr lang="en-US" sz="1100" dirty="0"/>
          </a:p>
        </p:txBody>
      </p:sp>
      <p:sp>
        <p:nvSpPr>
          <p:cNvPr id="15" name="Shape 13"/>
          <p:cNvSpPr/>
          <p:nvPr/>
        </p:nvSpPr>
        <p:spPr>
          <a:xfrm>
            <a:off x="731520" y="5715000"/>
            <a:ext cx="10515600" cy="685800"/>
          </a:xfrm>
          <a:prstGeom prst="roundRect">
            <a:avLst>
              <a:gd name="adj" fmla="val 13333"/>
            </a:avLst>
          </a:prstGeom>
          <a:solidFill>
            <a:srgbClr val="1E293B"/>
          </a:solidFill>
          <a:ln/>
        </p:spPr>
      </p:sp>
      <p:sp>
        <p:nvSpPr>
          <p:cNvPr id="16" name="Text 14"/>
          <p:cNvSpPr/>
          <p:nvPr/>
        </p:nvSpPr>
        <p:spPr>
          <a:xfrm>
            <a:off x="914400" y="5806440"/>
            <a:ext cx="10149840" cy="502920"/>
          </a:xfrm>
          <a:prstGeom prst="rect">
            <a:avLst/>
          </a:prstGeom>
          <a:noFill/>
          <a:ln/>
        </p:spPr>
        <p:txBody>
          <a:bodyPr wrap="square" rtlCol="0" anchor="ctr"/>
          <a:lstStyle/>
          <a:p>
            <a:pPr algn="ctr" indent="0" marL="0">
              <a:buNone/>
            </a:pPr>
            <a:r>
              <a:rPr lang="en-US" sz="1100" b="1" dirty="0">
                <a:solidFill>
                  <a:srgbClr val="06B6D4"/>
                </a:solidFill>
                <a:latin typeface="Malgun Gothic" pitchFamily="34" charset="0"/>
                <a:ea typeface="Malgun Gothic" pitchFamily="34" charset="-122"/>
                <a:cs typeface="Malgun Gothic" pitchFamily="34" charset="-120"/>
              </a:rPr>
              <a:t>🔗 실시간 3중 데이터 구조: Google Sheets 당직표 자동 수집 ⟷ Cloud PostgreSQL 백엔드 ⟷ LocalStorage 오프라인 보호</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284C7"/>
          </a:solidFill>
          <a:ln/>
        </p:spPr>
      </p:sp>
      <p:sp>
        <p:nvSpPr>
          <p:cNvPr id="3" name="Text 1"/>
          <p:cNvSpPr/>
          <p:nvPr/>
        </p:nvSpPr>
        <p:spPr>
          <a:xfrm>
            <a:off x="731520" y="320040"/>
            <a:ext cx="7315200" cy="228600"/>
          </a:xfrm>
          <a:prstGeom prst="rect">
            <a:avLst/>
          </a:prstGeom>
          <a:noFill/>
          <a:ln/>
        </p:spPr>
        <p:txBody>
          <a:bodyPr wrap="square" rtlCol="0" anchor="ctr"/>
          <a:lstStyle/>
          <a:p>
            <a:pPr indent="0" marL="0">
              <a:buNone/>
            </a:pPr>
            <a:r>
              <a:rPr lang="en-US" sz="1000" b="1" dirty="0">
                <a:solidFill>
                  <a:srgbClr val="0284C7"/>
                </a:solidFill>
                <a:latin typeface="Malgun Gothic" pitchFamily="34" charset="0"/>
                <a:ea typeface="Malgun Gothic" pitchFamily="34" charset="-122"/>
                <a:cs typeface="Malgun Gothic" pitchFamily="34" charset="-120"/>
              </a:rPr>
              <a:t>CORE ROUTING ENGINE PIPELINE</a:t>
            </a:r>
            <a:endParaRPr lang="en-US" sz="1000" dirty="0"/>
          </a:p>
        </p:txBody>
      </p:sp>
      <p:sp>
        <p:nvSpPr>
          <p:cNvPr id="4" name="Text 2"/>
          <p:cNvSpPr/>
          <p:nvPr/>
        </p:nvSpPr>
        <p:spPr>
          <a:xfrm>
            <a:off x="731520" y="548640"/>
            <a:ext cx="9144000" cy="502920"/>
          </a:xfrm>
          <a:prstGeom prst="rect">
            <a:avLst/>
          </a:prstGeom>
          <a:noFill/>
          <a:ln/>
        </p:spPr>
        <p:txBody>
          <a:bodyPr wrap="square" rtlCol="0" anchor="ctr"/>
          <a:lstStyle/>
          <a:p>
            <a:pPr indent="0" marL="0">
              <a:buNone/>
            </a:pPr>
            <a:r>
              <a:rPr lang="en-US" sz="2000" b="1" dirty="0">
                <a:solidFill>
                  <a:srgbClr val="0F172A"/>
                </a:solidFill>
                <a:latin typeface="Malgun Gothic" pitchFamily="34" charset="0"/>
                <a:ea typeface="Malgun Gothic" pitchFamily="34" charset="-122"/>
                <a:cs typeface="Malgun Gothic" pitchFamily="34" charset="-120"/>
              </a:rPr>
              <a:t>핵심 연락 알고리즘 (5단계 의사결정 파이프라인)</a:t>
            </a:r>
            <a:endParaRPr lang="en-US" sz="2000" dirty="0"/>
          </a:p>
        </p:txBody>
      </p:sp>
      <p:sp>
        <p:nvSpPr>
          <p:cNvPr id="5" name="Text 3"/>
          <p:cNvSpPr/>
          <p:nvPr/>
        </p:nvSpPr>
        <p:spPr>
          <a:xfrm>
            <a:off x="10789920" y="457200"/>
            <a:ext cx="914400" cy="365760"/>
          </a:xfrm>
          <a:prstGeom prst="rect">
            <a:avLst/>
          </a:prstGeom>
          <a:noFill/>
          <a:ln/>
        </p:spPr>
        <p:txBody>
          <a:bodyPr wrap="square" rtlCol="0" anchor="ctr"/>
          <a:lstStyle/>
          <a:p>
            <a:pPr algn="r" indent="0" marL="0">
              <a:buNone/>
            </a:pPr>
            <a:r>
              <a:rPr lang="en-US" sz="1200" b="1" dirty="0">
                <a:solidFill>
                  <a:srgbClr val="475569"/>
                </a:solidFill>
                <a:latin typeface="Arial" pitchFamily="34" charset="0"/>
                <a:ea typeface="Arial" pitchFamily="34" charset="-122"/>
                <a:cs typeface="Arial" pitchFamily="34" charset="-120"/>
              </a:rPr>
              <a:t>04 / 10</a:t>
            </a:r>
            <a:endParaRPr lang="en-US" sz="1200" dirty="0"/>
          </a:p>
        </p:txBody>
      </p:sp>
      <p:sp>
        <p:nvSpPr>
          <p:cNvPr id="6" name="Shape 4"/>
          <p:cNvSpPr/>
          <p:nvPr/>
        </p:nvSpPr>
        <p:spPr>
          <a:xfrm>
            <a:off x="731520" y="1143000"/>
            <a:ext cx="10698480" cy="0"/>
          </a:xfrm>
          <a:prstGeom prst="line">
            <a:avLst/>
          </a:prstGeom>
          <a:noFill/>
          <a:ln w="19050">
            <a:solidFill>
              <a:srgbClr val="E2E8F0"/>
            </a:solidFill>
            <a:prstDash val="solid"/>
          </a:ln>
        </p:spPr>
      </p:sp>
      <p:sp>
        <p:nvSpPr>
          <p:cNvPr id="7" name="Shape 5"/>
          <p:cNvSpPr/>
          <p:nvPr/>
        </p:nvSpPr>
        <p:spPr>
          <a:xfrm>
            <a:off x="731520" y="1463040"/>
            <a:ext cx="2057400" cy="4114800"/>
          </a:xfrm>
          <a:prstGeom prst="roundRect">
            <a:avLst>
              <a:gd name="adj" fmla="val 5333"/>
            </a:avLst>
          </a:prstGeom>
          <a:solidFill>
            <a:srgbClr val="FFFFFF"/>
          </a:solidFill>
          <a:ln w="25400">
            <a:solidFill>
              <a:srgbClr val="0284C7"/>
            </a:solidFill>
            <a:prstDash val="solid"/>
          </a:ln>
        </p:spPr>
      </p:sp>
      <p:sp>
        <p:nvSpPr>
          <p:cNvPr id="8" name="Shape 6"/>
          <p:cNvSpPr/>
          <p:nvPr/>
        </p:nvSpPr>
        <p:spPr>
          <a:xfrm>
            <a:off x="731520" y="1463040"/>
            <a:ext cx="2057400" cy="548640"/>
          </a:xfrm>
          <a:prstGeom prst="rect">
            <a:avLst/>
          </a:prstGeom>
          <a:solidFill>
            <a:srgbClr val="0284C7"/>
          </a:solidFill>
          <a:ln/>
        </p:spPr>
      </p:sp>
      <p:sp>
        <p:nvSpPr>
          <p:cNvPr id="9" name="Text 7"/>
          <p:cNvSpPr/>
          <p:nvPr/>
        </p:nvSpPr>
        <p:spPr>
          <a:xfrm>
            <a:off x="731520" y="1508760"/>
            <a:ext cx="2057400" cy="201168"/>
          </a:xfrm>
          <a:prstGeom prst="rect">
            <a:avLst/>
          </a:prstGeom>
          <a:noFill/>
          <a:ln/>
        </p:spPr>
        <p:txBody>
          <a:bodyPr wrap="square"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STEP 1</a:t>
            </a:r>
            <a:endParaRPr lang="en-US" sz="900" dirty="0"/>
          </a:p>
        </p:txBody>
      </p:sp>
      <p:sp>
        <p:nvSpPr>
          <p:cNvPr id="10" name="Text 8"/>
          <p:cNvSpPr/>
          <p:nvPr/>
        </p:nvSpPr>
        <p:spPr>
          <a:xfrm>
            <a:off x="731520" y="1719072"/>
            <a:ext cx="2057400" cy="256032"/>
          </a:xfrm>
          <a:prstGeom prst="rect">
            <a:avLst/>
          </a:prstGeom>
          <a:noFill/>
          <a:ln/>
        </p:spPr>
        <p:txBody>
          <a:bodyPr wrap="square"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환경 변수 판정</a:t>
            </a:r>
            <a:endParaRPr lang="en-US" sz="1100" dirty="0"/>
          </a:p>
        </p:txBody>
      </p:sp>
      <p:sp>
        <p:nvSpPr>
          <p:cNvPr id="11" name="Text 9"/>
          <p:cNvSpPr/>
          <p:nvPr/>
        </p:nvSpPr>
        <p:spPr>
          <a:xfrm>
            <a:off x="841248" y="2148840"/>
            <a:ext cx="1837944" cy="3291840"/>
          </a:xfrm>
          <a:prstGeom prst="rect">
            <a:avLst/>
          </a:prstGeom>
          <a:noFill/>
          <a:ln/>
        </p:spPr>
        <p:txBody>
          <a:bodyPr wrap="square" rtlCol="0" anchor="ctr"/>
          <a:lstStyle/>
          <a:p>
            <a:pPr indent="0" marL="0">
              <a:lnSpc>
                <a:spcPts val="1600"/>
              </a:lnSpc>
              <a:buNone/>
            </a:pPr>
            <a:r>
              <a:rPr lang="en-US" sz="1000" dirty="0">
                <a:solidFill>
                  <a:srgbClr val="0F172A"/>
                </a:solidFill>
                <a:latin typeface="Malgun Gothic" pitchFamily="34" charset="0"/>
                <a:ea typeface="Malgun Gothic" pitchFamily="34" charset="-122"/>
                <a:cs typeface="Malgun Gothic" pitchFamily="34" charset="-120"/>
              </a:rPr>
              <a:t>• 공휴일/주말 실시간 계산</a:t>
            </a:r>
            <a:endParaRPr lang="en-US" sz="1000" dirty="0"/>
          </a:p>
          <a:p>
            <a:pPr indent="0" marL="0">
              <a:lnSpc>
                <a:spcPts val="1600"/>
              </a:lnSpc>
              <a:buNone/>
            </a:pPr>
            <a:r>
              <a:rPr lang="en-US" sz="1000" dirty="0">
                <a:solidFill>
                  <a:srgbClr val="0F172A"/>
                </a:solidFill>
                <a:latin typeface="Malgun Gothic" pitchFamily="34" charset="0"/>
                <a:ea typeface="Malgun Gothic" pitchFamily="34" charset="-122"/>
                <a:cs typeface="Malgun Gothic" pitchFamily="34" charset="-120"/>
              </a:rPr>
              <a:t>• 평일 정규 (08~17시)</a:t>
            </a:r>
            <a:endParaRPr lang="en-US" sz="1000" dirty="0"/>
          </a:p>
          <a:p>
            <a:pPr indent="0" marL="0">
              <a:lnSpc>
                <a:spcPts val="1600"/>
              </a:lnSpc>
              <a:buNone/>
            </a:pPr>
            <a:r>
              <a:rPr lang="en-US" sz="1000" dirty="0">
                <a:solidFill>
                  <a:srgbClr val="0F172A"/>
                </a:solidFill>
                <a:latin typeface="Malgun Gothic" pitchFamily="34" charset="0"/>
                <a:ea typeface="Malgun Gothic" pitchFamily="34" charset="-122"/>
                <a:cs typeface="Malgun Gothic" pitchFamily="34" charset="-120"/>
              </a:rPr>
              <a:t>• 이브닝 (17~22시)</a:t>
            </a:r>
            <a:endParaRPr lang="en-US" sz="1000" dirty="0"/>
          </a:p>
          <a:p>
            <a:pPr indent="0" marL="0">
              <a:lnSpc>
                <a:spcPts val="1600"/>
              </a:lnSpc>
              <a:buNone/>
            </a:pPr>
            <a:r>
              <a:rPr lang="en-US" sz="1000" dirty="0">
                <a:solidFill>
                  <a:srgbClr val="0F172A"/>
                </a:solidFill>
                <a:latin typeface="Malgun Gothic" pitchFamily="34" charset="0"/>
                <a:ea typeface="Malgun Gothic" pitchFamily="34" charset="-122"/>
                <a:cs typeface="Malgun Gothic" pitchFamily="34" charset="-120"/>
              </a:rPr>
              <a:t>• 심야 야간 (22~08시)</a:t>
            </a:r>
            <a:endParaRPr lang="en-US" sz="1000" dirty="0"/>
          </a:p>
          <a:p>
            <a:pPr indent="0" marL="0">
              <a:lnSpc>
                <a:spcPts val="1600"/>
              </a:lnSpc>
              <a:buNone/>
            </a:pPr>
            <a:r>
              <a:rPr lang="en-US" sz="1000" dirty="0">
                <a:solidFill>
                  <a:srgbClr val="0F172A"/>
                </a:solidFill>
                <a:latin typeface="Malgun Gothic" pitchFamily="34" charset="0"/>
                <a:ea typeface="Malgun Gothic" pitchFamily="34" charset="-122"/>
                <a:cs typeface="Malgun Gothic" pitchFamily="34" charset="-120"/>
              </a:rPr>
              <a:t>• 자정 경계 교대 완벽 지원</a:t>
            </a:r>
            <a:endParaRPr lang="en-US" sz="1000" dirty="0"/>
          </a:p>
        </p:txBody>
      </p:sp>
      <p:sp>
        <p:nvSpPr>
          <p:cNvPr id="12" name="Text 10"/>
          <p:cNvSpPr/>
          <p:nvPr/>
        </p:nvSpPr>
        <p:spPr>
          <a:xfrm>
            <a:off x="2761488" y="3291840"/>
            <a:ext cx="182880" cy="274320"/>
          </a:xfrm>
          <a:prstGeom prst="rect">
            <a:avLst/>
          </a:prstGeom>
          <a:noFill/>
          <a:ln/>
        </p:spPr>
        <p:txBody>
          <a:bodyPr wrap="square" rtlCol="0" anchor="ctr"/>
          <a:lstStyle/>
          <a:p>
            <a:pPr algn="ctr" indent="0" marL="0">
              <a:buNone/>
            </a:pPr>
            <a:r>
              <a:rPr lang="en-US" sz="1200" b="1" dirty="0">
                <a:solidFill>
                  <a:srgbClr val="475569"/>
                </a:solidFill>
                <a:latin typeface="Arial" pitchFamily="34" charset="0"/>
                <a:ea typeface="Arial" pitchFamily="34" charset="-122"/>
                <a:cs typeface="Arial" pitchFamily="34" charset="-120"/>
              </a:rPr>
              <a:t>▶</a:t>
            </a:r>
            <a:endParaRPr lang="en-US" sz="1200" dirty="0"/>
          </a:p>
        </p:txBody>
      </p:sp>
      <p:sp>
        <p:nvSpPr>
          <p:cNvPr id="13" name="Shape 11"/>
          <p:cNvSpPr/>
          <p:nvPr/>
        </p:nvSpPr>
        <p:spPr>
          <a:xfrm>
            <a:off x="2907792" y="1463040"/>
            <a:ext cx="2057400" cy="4114800"/>
          </a:xfrm>
          <a:prstGeom prst="roundRect">
            <a:avLst>
              <a:gd name="adj" fmla="val 5333"/>
            </a:avLst>
          </a:prstGeom>
          <a:solidFill>
            <a:srgbClr val="FFFFFF"/>
          </a:solidFill>
          <a:ln w="25400">
            <a:solidFill>
              <a:srgbClr val="D97706"/>
            </a:solidFill>
            <a:prstDash val="solid"/>
          </a:ln>
        </p:spPr>
      </p:sp>
      <p:sp>
        <p:nvSpPr>
          <p:cNvPr id="14" name="Shape 12"/>
          <p:cNvSpPr/>
          <p:nvPr/>
        </p:nvSpPr>
        <p:spPr>
          <a:xfrm>
            <a:off x="2907792" y="1463040"/>
            <a:ext cx="2057400" cy="548640"/>
          </a:xfrm>
          <a:prstGeom prst="rect">
            <a:avLst/>
          </a:prstGeom>
          <a:solidFill>
            <a:srgbClr val="D97706"/>
          </a:solidFill>
          <a:ln/>
        </p:spPr>
      </p:sp>
      <p:sp>
        <p:nvSpPr>
          <p:cNvPr id="15" name="Text 13"/>
          <p:cNvSpPr/>
          <p:nvPr/>
        </p:nvSpPr>
        <p:spPr>
          <a:xfrm>
            <a:off x="2907792" y="1508760"/>
            <a:ext cx="2057400" cy="201168"/>
          </a:xfrm>
          <a:prstGeom prst="rect">
            <a:avLst/>
          </a:prstGeom>
          <a:noFill/>
          <a:ln/>
        </p:spPr>
        <p:txBody>
          <a:bodyPr wrap="square"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STEP 2</a:t>
            </a:r>
            <a:endParaRPr lang="en-US" sz="900" dirty="0"/>
          </a:p>
        </p:txBody>
      </p:sp>
      <p:sp>
        <p:nvSpPr>
          <p:cNvPr id="16" name="Text 14"/>
          <p:cNvSpPr/>
          <p:nvPr/>
        </p:nvSpPr>
        <p:spPr>
          <a:xfrm>
            <a:off x="2907792" y="1719072"/>
            <a:ext cx="2057400" cy="256032"/>
          </a:xfrm>
          <a:prstGeom prst="rect">
            <a:avLst/>
          </a:prstGeom>
          <a:noFill/>
          <a:ln/>
        </p:spPr>
        <p:txBody>
          <a:bodyPr wrap="square"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규칙 빌더 우선 평가</a:t>
            </a:r>
            <a:endParaRPr lang="en-US" sz="1100" dirty="0"/>
          </a:p>
        </p:txBody>
      </p:sp>
      <p:sp>
        <p:nvSpPr>
          <p:cNvPr id="17" name="Text 15"/>
          <p:cNvSpPr/>
          <p:nvPr/>
        </p:nvSpPr>
        <p:spPr>
          <a:xfrm>
            <a:off x="3017520" y="2148840"/>
            <a:ext cx="1837944" cy="3291840"/>
          </a:xfrm>
          <a:prstGeom prst="rect">
            <a:avLst/>
          </a:prstGeom>
          <a:noFill/>
          <a:ln/>
        </p:spPr>
        <p:txBody>
          <a:bodyPr wrap="square" rtlCol="0" anchor="ctr"/>
          <a:lstStyle/>
          <a:p>
            <a:pPr indent="0" marL="0">
              <a:lnSpc>
                <a:spcPts val="1600"/>
              </a:lnSpc>
              <a:buNone/>
            </a:pPr>
            <a:r>
              <a:rPr lang="en-US" sz="1000" dirty="0">
                <a:solidFill>
                  <a:srgbClr val="0F172A"/>
                </a:solidFill>
                <a:latin typeface="Malgun Gothic" pitchFamily="34" charset="0"/>
                <a:ea typeface="Malgun Gothic" pitchFamily="34" charset="-122"/>
                <a:cs typeface="Malgun Gothic" pitchFamily="34" charset="-120"/>
              </a:rPr>
              <a:t>• 관리자 커스텀 룰 최우선</a:t>
            </a:r>
            <a:endParaRPr lang="en-US" sz="1000" dirty="0"/>
          </a:p>
          <a:p>
            <a:pPr indent="0" marL="0">
              <a:lnSpc>
                <a:spcPts val="1600"/>
              </a:lnSpc>
              <a:buNone/>
            </a:pPr>
            <a:r>
              <a:rPr lang="en-US" sz="1000" dirty="0">
                <a:solidFill>
                  <a:srgbClr val="0F172A"/>
                </a:solidFill>
                <a:latin typeface="Malgun Gothic" pitchFamily="34" charset="0"/>
                <a:ea typeface="Malgun Gothic" pitchFamily="34" charset="-122"/>
                <a:cs typeface="Malgun Gothic" pitchFamily="34" charset="-120"/>
              </a:rPr>
              <a:t>• 우선순위 1~N 순차 검사</a:t>
            </a:r>
            <a:endParaRPr lang="en-US" sz="1000" dirty="0"/>
          </a:p>
          <a:p>
            <a:pPr indent="0" marL="0">
              <a:lnSpc>
                <a:spcPts val="1600"/>
              </a:lnSpc>
              <a:buNone/>
            </a:pPr>
            <a:r>
              <a:rPr lang="en-US" sz="1000" dirty="0">
                <a:solidFill>
                  <a:srgbClr val="0F172A"/>
                </a:solidFill>
                <a:latin typeface="Malgun Gothic" pitchFamily="34" charset="0"/>
                <a:ea typeface="Malgun Gothic" pitchFamily="34" charset="-122"/>
                <a:cs typeface="Malgun Gothic" pitchFamily="34" charset="-120"/>
              </a:rPr>
              <a:t>• 과/병동/시간/키워드 매칭</a:t>
            </a:r>
            <a:endParaRPr lang="en-US" sz="1000" dirty="0"/>
          </a:p>
          <a:p>
            <a:pPr indent="0" marL="0">
              <a:lnSpc>
                <a:spcPts val="1600"/>
              </a:lnSpc>
              <a:buNone/>
            </a:pPr>
            <a:r>
              <a:rPr lang="en-US" sz="1000" dirty="0">
                <a:solidFill>
                  <a:srgbClr val="0F172A"/>
                </a:solidFill>
                <a:latin typeface="Malgun Gothic" pitchFamily="34" charset="0"/>
                <a:ea typeface="Malgun Gothic" pitchFamily="34" charset="-122"/>
                <a:cs typeface="Malgun Gothic" pitchFamily="34" charset="-120"/>
              </a:rPr>
              <a:t>• 일치 시 기본엔진 우회</a:t>
            </a:r>
            <a:endParaRPr lang="en-US" sz="1000" dirty="0"/>
          </a:p>
          <a:p>
            <a:pPr indent="0" marL="0">
              <a:lnSpc>
                <a:spcPts val="1600"/>
              </a:lnSpc>
              <a:buNone/>
            </a:pPr>
            <a:r>
              <a:rPr lang="en-US" sz="1000" dirty="0">
                <a:solidFill>
                  <a:srgbClr val="0F172A"/>
                </a:solidFill>
                <a:latin typeface="Malgun Gothic" pitchFamily="34" charset="0"/>
                <a:ea typeface="Malgun Gothic" pitchFamily="34" charset="-122"/>
                <a:cs typeface="Malgun Gothic" pitchFamily="34" charset="-120"/>
              </a:rPr>
              <a:t>(예: 통합의학과 사망선언)</a:t>
            </a:r>
            <a:endParaRPr lang="en-US" sz="1000" dirty="0"/>
          </a:p>
        </p:txBody>
      </p:sp>
      <p:sp>
        <p:nvSpPr>
          <p:cNvPr id="18" name="Text 16"/>
          <p:cNvSpPr/>
          <p:nvPr/>
        </p:nvSpPr>
        <p:spPr>
          <a:xfrm>
            <a:off x="4937760" y="3291840"/>
            <a:ext cx="182880" cy="274320"/>
          </a:xfrm>
          <a:prstGeom prst="rect">
            <a:avLst/>
          </a:prstGeom>
          <a:noFill/>
          <a:ln/>
        </p:spPr>
        <p:txBody>
          <a:bodyPr wrap="square" rtlCol="0" anchor="ctr"/>
          <a:lstStyle/>
          <a:p>
            <a:pPr algn="ctr" indent="0" marL="0">
              <a:buNone/>
            </a:pPr>
            <a:r>
              <a:rPr lang="en-US" sz="1200" b="1" dirty="0">
                <a:solidFill>
                  <a:srgbClr val="475569"/>
                </a:solidFill>
                <a:latin typeface="Arial" pitchFamily="34" charset="0"/>
                <a:ea typeface="Arial" pitchFamily="34" charset="-122"/>
                <a:cs typeface="Arial" pitchFamily="34" charset="-120"/>
              </a:rPr>
              <a:t>▶</a:t>
            </a:r>
            <a:endParaRPr lang="en-US" sz="1200" dirty="0"/>
          </a:p>
        </p:txBody>
      </p:sp>
      <p:sp>
        <p:nvSpPr>
          <p:cNvPr id="19" name="Shape 17"/>
          <p:cNvSpPr/>
          <p:nvPr/>
        </p:nvSpPr>
        <p:spPr>
          <a:xfrm>
            <a:off x="5084064" y="1463040"/>
            <a:ext cx="2057400" cy="4114800"/>
          </a:xfrm>
          <a:prstGeom prst="roundRect">
            <a:avLst>
              <a:gd name="adj" fmla="val 5333"/>
            </a:avLst>
          </a:prstGeom>
          <a:solidFill>
            <a:srgbClr val="FFFFFF"/>
          </a:solidFill>
          <a:ln w="25400">
            <a:solidFill>
              <a:srgbClr val="E11D48"/>
            </a:solidFill>
            <a:prstDash val="solid"/>
          </a:ln>
        </p:spPr>
      </p:sp>
      <p:sp>
        <p:nvSpPr>
          <p:cNvPr id="20" name="Shape 18"/>
          <p:cNvSpPr/>
          <p:nvPr/>
        </p:nvSpPr>
        <p:spPr>
          <a:xfrm>
            <a:off x="5084064" y="1463040"/>
            <a:ext cx="2057400" cy="548640"/>
          </a:xfrm>
          <a:prstGeom prst="rect">
            <a:avLst/>
          </a:prstGeom>
          <a:solidFill>
            <a:srgbClr val="E11D48"/>
          </a:solidFill>
          <a:ln/>
        </p:spPr>
      </p:sp>
      <p:sp>
        <p:nvSpPr>
          <p:cNvPr id="21" name="Text 19"/>
          <p:cNvSpPr/>
          <p:nvPr/>
        </p:nvSpPr>
        <p:spPr>
          <a:xfrm>
            <a:off x="5084064" y="1508760"/>
            <a:ext cx="2057400" cy="201168"/>
          </a:xfrm>
          <a:prstGeom prst="rect">
            <a:avLst/>
          </a:prstGeom>
          <a:noFill/>
          <a:ln/>
        </p:spPr>
        <p:txBody>
          <a:bodyPr wrap="square"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STEP 3</a:t>
            </a:r>
            <a:endParaRPr lang="en-US" sz="900" dirty="0"/>
          </a:p>
        </p:txBody>
      </p:sp>
      <p:sp>
        <p:nvSpPr>
          <p:cNvPr id="22" name="Text 20"/>
          <p:cNvSpPr/>
          <p:nvPr/>
        </p:nvSpPr>
        <p:spPr>
          <a:xfrm>
            <a:off x="5084064" y="1719072"/>
            <a:ext cx="2057400" cy="256032"/>
          </a:xfrm>
          <a:prstGeom prst="rect">
            <a:avLst/>
          </a:prstGeom>
          <a:noFill/>
          <a:ln/>
        </p:spPr>
        <p:txBody>
          <a:bodyPr wrap="square"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특수 직역/시간 분기</a:t>
            </a:r>
            <a:endParaRPr lang="en-US" sz="1100" dirty="0"/>
          </a:p>
        </p:txBody>
      </p:sp>
      <p:sp>
        <p:nvSpPr>
          <p:cNvPr id="23" name="Text 21"/>
          <p:cNvSpPr/>
          <p:nvPr/>
        </p:nvSpPr>
        <p:spPr>
          <a:xfrm>
            <a:off x="5193792" y="2148840"/>
            <a:ext cx="1837944" cy="3291840"/>
          </a:xfrm>
          <a:prstGeom prst="rect">
            <a:avLst/>
          </a:prstGeom>
          <a:noFill/>
          <a:ln/>
        </p:spPr>
        <p:txBody>
          <a:bodyPr wrap="square" rtlCol="0" anchor="ctr"/>
          <a:lstStyle/>
          <a:p>
            <a:pPr indent="0" marL="0">
              <a:lnSpc>
                <a:spcPts val="1600"/>
              </a:lnSpc>
              <a:buNone/>
            </a:pPr>
            <a:r>
              <a:rPr lang="en-US" sz="1000" dirty="0">
                <a:solidFill>
                  <a:srgbClr val="0F172A"/>
                </a:solidFill>
                <a:latin typeface="Malgun Gothic" pitchFamily="34" charset="0"/>
                <a:ea typeface="Malgun Gothic" pitchFamily="34" charset="-122"/>
                <a:cs typeface="Malgun Gothic" pitchFamily="34" charset="-120"/>
              </a:rPr>
              <a:t>• EKG 임상병리사 매칭</a:t>
            </a:r>
            <a:endParaRPr lang="en-US" sz="1000" dirty="0"/>
          </a:p>
          <a:p>
            <a:pPr indent="0" marL="0">
              <a:lnSpc>
                <a:spcPts val="1600"/>
              </a:lnSpc>
              <a:buNone/>
            </a:pPr>
            <a:r>
              <a:rPr lang="en-US" sz="1000" dirty="0">
                <a:solidFill>
                  <a:srgbClr val="0F172A"/>
                </a:solidFill>
                <a:latin typeface="Malgun Gothic" pitchFamily="34" charset="0"/>
                <a:ea typeface="Malgun Gothic" pitchFamily="34" charset="-122"/>
                <a:cs typeface="Malgun Gothic" pitchFamily="34" charset="-120"/>
              </a:rPr>
              <a:t>  (평일 06~08시 정규 EKG)</a:t>
            </a:r>
            <a:endParaRPr lang="en-US" sz="1000" dirty="0"/>
          </a:p>
          <a:p>
            <a:pPr indent="0" marL="0">
              <a:lnSpc>
                <a:spcPts val="1600"/>
              </a:lnSpc>
              <a:buNone/>
            </a:pPr>
            <a:r>
              <a:rPr lang="en-US" sz="1000" dirty="0">
                <a:solidFill>
                  <a:srgbClr val="0F172A"/>
                </a:solidFill>
                <a:latin typeface="Malgun Gothic" pitchFamily="34" charset="0"/>
                <a:ea typeface="Malgun Gothic" pitchFamily="34" charset="-122"/>
                <a:cs typeface="Malgun Gothic" pitchFamily="34" charset="-120"/>
              </a:rPr>
              <a:t>• 병리사 순환일정 자동 연동</a:t>
            </a:r>
            <a:endParaRPr lang="en-US" sz="1000" dirty="0"/>
          </a:p>
          <a:p>
            <a:pPr indent="0" marL="0">
              <a:lnSpc>
                <a:spcPts val="1600"/>
              </a:lnSpc>
              <a:buNone/>
            </a:pPr>
            <a:r>
              <a:rPr lang="en-US" sz="1000" dirty="0">
                <a:solidFill>
                  <a:srgbClr val="0F172A"/>
                </a:solidFill>
                <a:latin typeface="Malgun Gothic" pitchFamily="34" charset="0"/>
                <a:ea typeface="Malgun Gothic" pitchFamily="34" charset="-122"/>
                <a:cs typeface="Malgun Gothic" pitchFamily="34" charset="-120"/>
              </a:rPr>
              <a:t>• 응급상황/CPR/응급약물</a:t>
            </a:r>
            <a:endParaRPr lang="en-US" sz="1000" dirty="0"/>
          </a:p>
          <a:p>
            <a:pPr indent="0" marL="0">
              <a:lnSpc>
                <a:spcPts val="1600"/>
              </a:lnSpc>
              <a:buNone/>
            </a:pPr>
            <a:r>
              <a:rPr lang="en-US" sz="1000" dirty="0">
                <a:solidFill>
                  <a:srgbClr val="0F172A"/>
                </a:solidFill>
                <a:latin typeface="Malgun Gothic" pitchFamily="34" charset="0"/>
                <a:ea typeface="Malgun Gothic" pitchFamily="34" charset="-122"/>
                <a:cs typeface="Malgun Gothic" pitchFamily="34" charset="-120"/>
              </a:rPr>
              <a:t>  ➔ 전담+의사 동시 호출</a:t>
            </a:r>
            <a:endParaRPr lang="en-US" sz="1000" dirty="0"/>
          </a:p>
        </p:txBody>
      </p:sp>
      <p:sp>
        <p:nvSpPr>
          <p:cNvPr id="24" name="Text 22"/>
          <p:cNvSpPr/>
          <p:nvPr/>
        </p:nvSpPr>
        <p:spPr>
          <a:xfrm>
            <a:off x="7114032" y="3291840"/>
            <a:ext cx="182880" cy="274320"/>
          </a:xfrm>
          <a:prstGeom prst="rect">
            <a:avLst/>
          </a:prstGeom>
          <a:noFill/>
          <a:ln/>
        </p:spPr>
        <p:txBody>
          <a:bodyPr wrap="square" rtlCol="0" anchor="ctr"/>
          <a:lstStyle/>
          <a:p>
            <a:pPr algn="ctr" indent="0" marL="0">
              <a:buNone/>
            </a:pPr>
            <a:r>
              <a:rPr lang="en-US" sz="1200" b="1" dirty="0">
                <a:solidFill>
                  <a:srgbClr val="475569"/>
                </a:solidFill>
                <a:latin typeface="Arial" pitchFamily="34" charset="0"/>
                <a:ea typeface="Arial" pitchFamily="34" charset="-122"/>
                <a:cs typeface="Arial" pitchFamily="34" charset="-120"/>
              </a:rPr>
              <a:t>▶</a:t>
            </a:r>
            <a:endParaRPr lang="en-US" sz="1200" dirty="0"/>
          </a:p>
        </p:txBody>
      </p:sp>
      <p:sp>
        <p:nvSpPr>
          <p:cNvPr id="25" name="Shape 23"/>
          <p:cNvSpPr/>
          <p:nvPr/>
        </p:nvSpPr>
        <p:spPr>
          <a:xfrm>
            <a:off x="7260336" y="1463040"/>
            <a:ext cx="2057400" cy="4114800"/>
          </a:xfrm>
          <a:prstGeom prst="roundRect">
            <a:avLst>
              <a:gd name="adj" fmla="val 5333"/>
            </a:avLst>
          </a:prstGeom>
          <a:solidFill>
            <a:srgbClr val="FFFFFF"/>
          </a:solidFill>
          <a:ln w="25400">
            <a:solidFill>
              <a:srgbClr val="0D9488"/>
            </a:solidFill>
            <a:prstDash val="solid"/>
          </a:ln>
        </p:spPr>
      </p:sp>
      <p:sp>
        <p:nvSpPr>
          <p:cNvPr id="26" name="Shape 24"/>
          <p:cNvSpPr/>
          <p:nvPr/>
        </p:nvSpPr>
        <p:spPr>
          <a:xfrm>
            <a:off x="7260336" y="1463040"/>
            <a:ext cx="2057400" cy="548640"/>
          </a:xfrm>
          <a:prstGeom prst="rect">
            <a:avLst/>
          </a:prstGeom>
          <a:solidFill>
            <a:srgbClr val="0D9488"/>
          </a:solidFill>
          <a:ln/>
        </p:spPr>
      </p:sp>
      <p:sp>
        <p:nvSpPr>
          <p:cNvPr id="27" name="Text 25"/>
          <p:cNvSpPr/>
          <p:nvPr/>
        </p:nvSpPr>
        <p:spPr>
          <a:xfrm>
            <a:off x="7260336" y="1508760"/>
            <a:ext cx="2057400" cy="201168"/>
          </a:xfrm>
          <a:prstGeom prst="rect">
            <a:avLst/>
          </a:prstGeom>
          <a:noFill/>
          <a:ln/>
        </p:spPr>
        <p:txBody>
          <a:bodyPr wrap="square"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STEP 4</a:t>
            </a:r>
            <a:endParaRPr lang="en-US" sz="900" dirty="0"/>
          </a:p>
        </p:txBody>
      </p:sp>
      <p:sp>
        <p:nvSpPr>
          <p:cNvPr id="28" name="Text 26"/>
          <p:cNvSpPr/>
          <p:nvPr/>
        </p:nvSpPr>
        <p:spPr>
          <a:xfrm>
            <a:off x="7260336" y="1719072"/>
            <a:ext cx="2057400" cy="256032"/>
          </a:xfrm>
          <a:prstGeom prst="rect">
            <a:avLst/>
          </a:prstGeom>
          <a:noFill/>
          <a:ln/>
        </p:spPr>
        <p:txBody>
          <a:bodyPr wrap="square"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진료계열 기본 엔진</a:t>
            </a:r>
            <a:endParaRPr lang="en-US" sz="1100" dirty="0"/>
          </a:p>
        </p:txBody>
      </p:sp>
      <p:sp>
        <p:nvSpPr>
          <p:cNvPr id="29" name="Text 27"/>
          <p:cNvSpPr/>
          <p:nvPr/>
        </p:nvSpPr>
        <p:spPr>
          <a:xfrm>
            <a:off x="7370064" y="2148840"/>
            <a:ext cx="1837944" cy="3291840"/>
          </a:xfrm>
          <a:prstGeom prst="rect">
            <a:avLst/>
          </a:prstGeom>
          <a:noFill/>
          <a:ln/>
        </p:spPr>
        <p:txBody>
          <a:bodyPr wrap="square" rtlCol="0" anchor="ctr"/>
          <a:lstStyle/>
          <a:p>
            <a:pPr indent="0" marL="0">
              <a:lnSpc>
                <a:spcPts val="1600"/>
              </a:lnSpc>
              <a:buNone/>
            </a:pPr>
            <a:r>
              <a:rPr lang="en-US" sz="1000" dirty="0">
                <a:solidFill>
                  <a:srgbClr val="0F172A"/>
                </a:solidFill>
                <a:latin typeface="Malgun Gothic" pitchFamily="34" charset="0"/>
                <a:ea typeface="Malgun Gothic" pitchFamily="34" charset="-122"/>
                <a:cs typeface="Malgun Gothic" pitchFamily="34" charset="-120"/>
              </a:rPr>
              <a:t>• 내과계: Group 1 vs 2</a:t>
            </a:r>
            <a:endParaRPr lang="en-US" sz="1000" dirty="0"/>
          </a:p>
          <a:p>
            <a:pPr indent="0" marL="0">
              <a:lnSpc>
                <a:spcPts val="1600"/>
              </a:lnSpc>
              <a:buNone/>
            </a:pPr>
            <a:r>
              <a:rPr lang="en-US" sz="1000" dirty="0">
                <a:solidFill>
                  <a:srgbClr val="0F172A"/>
                </a:solidFill>
                <a:latin typeface="Malgun Gothic" pitchFamily="34" charset="0"/>
                <a:ea typeface="Malgun Gothic" pitchFamily="34" charset="-122"/>
                <a:cs typeface="Malgun Gothic" pitchFamily="34" charset="-120"/>
              </a:rPr>
              <a:t>  ➔ 개인 UCAP 매칭</a:t>
            </a:r>
            <a:endParaRPr lang="en-US" sz="1000" dirty="0"/>
          </a:p>
          <a:p>
            <a:pPr indent="0" marL="0">
              <a:lnSpc>
                <a:spcPts val="1600"/>
              </a:lnSpc>
              <a:buNone/>
            </a:pPr>
            <a:r>
              <a:rPr lang="en-US" sz="1000" dirty="0">
                <a:solidFill>
                  <a:srgbClr val="0F172A"/>
                </a:solidFill>
                <a:latin typeface="Malgun Gothic" pitchFamily="34" charset="0"/>
                <a:ea typeface="Malgun Gothic" pitchFamily="34" charset="-122"/>
                <a:cs typeface="Malgun Gothic" pitchFamily="34" charset="-120"/>
              </a:rPr>
              <a:t>• 비내과계: Group C vs D</a:t>
            </a:r>
            <a:endParaRPr lang="en-US" sz="1000" dirty="0"/>
          </a:p>
          <a:p>
            <a:pPr indent="0" marL="0">
              <a:lnSpc>
                <a:spcPts val="1600"/>
              </a:lnSpc>
              <a:buNone/>
            </a:pPr>
            <a:r>
              <a:rPr lang="en-US" sz="1000" dirty="0">
                <a:solidFill>
                  <a:srgbClr val="0F172A"/>
                </a:solidFill>
                <a:latin typeface="Malgun Gothic" pitchFamily="34" charset="0"/>
                <a:ea typeface="Malgun Gothic" pitchFamily="34" charset="-122"/>
                <a:cs typeface="Malgun Gothic" pitchFamily="34" charset="-120"/>
              </a:rPr>
              <a:t>  ➔ 공용 당직폰 매칭</a:t>
            </a:r>
            <a:endParaRPr lang="en-US" sz="1000" dirty="0"/>
          </a:p>
          <a:p>
            <a:pPr indent="0" marL="0">
              <a:lnSpc>
                <a:spcPts val="1600"/>
              </a:lnSpc>
              <a:buNone/>
            </a:pPr>
            <a:r>
              <a:rPr lang="en-US" sz="1000" dirty="0">
                <a:solidFill>
                  <a:srgbClr val="0F172A"/>
                </a:solidFill>
                <a:latin typeface="Malgun Gothic" pitchFamily="34" charset="0"/>
                <a:ea typeface="Malgun Gothic" pitchFamily="34" charset="-122"/>
                <a:cs typeface="Malgun Gothic" pitchFamily="34" charset="-120"/>
              </a:rPr>
              <a:t>• 상시 전담간호 업무 연결</a:t>
            </a:r>
            <a:endParaRPr lang="en-US" sz="1000" dirty="0"/>
          </a:p>
          <a:p>
            <a:pPr indent="0" marL="0">
              <a:lnSpc>
                <a:spcPts val="1600"/>
              </a:lnSpc>
              <a:buNone/>
            </a:pPr>
            <a:r>
              <a:rPr lang="en-US" sz="1000" dirty="0">
                <a:solidFill>
                  <a:srgbClr val="0F172A"/>
                </a:solidFill>
                <a:latin typeface="Malgun Gothic" pitchFamily="34" charset="0"/>
                <a:ea typeface="Malgun Gothic" pitchFamily="34" charset="-122"/>
                <a:cs typeface="Malgun Gothic" pitchFamily="34" charset="-120"/>
              </a:rPr>
              <a:t>• 수혈동의서 의사 전담</a:t>
            </a:r>
            <a:endParaRPr lang="en-US" sz="1000" dirty="0"/>
          </a:p>
        </p:txBody>
      </p:sp>
      <p:sp>
        <p:nvSpPr>
          <p:cNvPr id="30" name="Text 28"/>
          <p:cNvSpPr/>
          <p:nvPr/>
        </p:nvSpPr>
        <p:spPr>
          <a:xfrm>
            <a:off x="9290304" y="3291840"/>
            <a:ext cx="182880" cy="274320"/>
          </a:xfrm>
          <a:prstGeom prst="rect">
            <a:avLst/>
          </a:prstGeom>
          <a:noFill/>
          <a:ln/>
        </p:spPr>
        <p:txBody>
          <a:bodyPr wrap="square" rtlCol="0" anchor="ctr"/>
          <a:lstStyle/>
          <a:p>
            <a:pPr algn="ctr" indent="0" marL="0">
              <a:buNone/>
            </a:pPr>
            <a:r>
              <a:rPr lang="en-US" sz="1200" b="1" dirty="0">
                <a:solidFill>
                  <a:srgbClr val="475569"/>
                </a:solidFill>
                <a:latin typeface="Arial" pitchFamily="34" charset="0"/>
                <a:ea typeface="Arial" pitchFamily="34" charset="-122"/>
                <a:cs typeface="Arial" pitchFamily="34" charset="-120"/>
              </a:rPr>
              <a:t>▶</a:t>
            </a:r>
            <a:endParaRPr lang="en-US" sz="1200" dirty="0"/>
          </a:p>
        </p:txBody>
      </p:sp>
      <p:sp>
        <p:nvSpPr>
          <p:cNvPr id="31" name="Shape 29"/>
          <p:cNvSpPr/>
          <p:nvPr/>
        </p:nvSpPr>
        <p:spPr>
          <a:xfrm>
            <a:off x="9436608" y="1463040"/>
            <a:ext cx="2057400" cy="4114800"/>
          </a:xfrm>
          <a:prstGeom prst="roundRect">
            <a:avLst>
              <a:gd name="adj" fmla="val 5333"/>
            </a:avLst>
          </a:prstGeom>
          <a:solidFill>
            <a:srgbClr val="FFFFFF"/>
          </a:solidFill>
          <a:ln w="25400">
            <a:solidFill>
              <a:srgbClr val="059669"/>
            </a:solidFill>
            <a:prstDash val="solid"/>
          </a:ln>
        </p:spPr>
      </p:sp>
      <p:sp>
        <p:nvSpPr>
          <p:cNvPr id="32" name="Shape 30"/>
          <p:cNvSpPr/>
          <p:nvPr/>
        </p:nvSpPr>
        <p:spPr>
          <a:xfrm>
            <a:off x="9436608" y="1463040"/>
            <a:ext cx="2057400" cy="548640"/>
          </a:xfrm>
          <a:prstGeom prst="rect">
            <a:avLst/>
          </a:prstGeom>
          <a:solidFill>
            <a:srgbClr val="059669"/>
          </a:solidFill>
          <a:ln/>
        </p:spPr>
      </p:sp>
      <p:sp>
        <p:nvSpPr>
          <p:cNvPr id="33" name="Text 31"/>
          <p:cNvSpPr/>
          <p:nvPr/>
        </p:nvSpPr>
        <p:spPr>
          <a:xfrm>
            <a:off x="9436608" y="1508760"/>
            <a:ext cx="2057400" cy="201168"/>
          </a:xfrm>
          <a:prstGeom prst="rect">
            <a:avLst/>
          </a:prstGeom>
          <a:noFill/>
          <a:ln/>
        </p:spPr>
        <p:txBody>
          <a:bodyPr wrap="square"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STEP 5</a:t>
            </a:r>
            <a:endParaRPr lang="en-US" sz="900" dirty="0"/>
          </a:p>
        </p:txBody>
      </p:sp>
      <p:sp>
        <p:nvSpPr>
          <p:cNvPr id="34" name="Text 32"/>
          <p:cNvSpPr/>
          <p:nvPr/>
        </p:nvSpPr>
        <p:spPr>
          <a:xfrm>
            <a:off x="9436608" y="1719072"/>
            <a:ext cx="2057400" cy="256032"/>
          </a:xfrm>
          <a:prstGeom prst="rect">
            <a:avLst/>
          </a:prstGeom>
          <a:noFill/>
          <a:ln/>
        </p:spPr>
        <p:txBody>
          <a:bodyPr wrap="square"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업무마스터 안전 가드</a:t>
            </a:r>
            <a:endParaRPr lang="en-US" sz="1100" dirty="0"/>
          </a:p>
        </p:txBody>
      </p:sp>
      <p:sp>
        <p:nvSpPr>
          <p:cNvPr id="35" name="Text 33"/>
          <p:cNvSpPr/>
          <p:nvPr/>
        </p:nvSpPr>
        <p:spPr>
          <a:xfrm>
            <a:off x="9546336" y="2148840"/>
            <a:ext cx="1837944" cy="3291840"/>
          </a:xfrm>
          <a:prstGeom prst="rect">
            <a:avLst/>
          </a:prstGeom>
          <a:noFill/>
          <a:ln/>
        </p:spPr>
        <p:txBody>
          <a:bodyPr wrap="square" rtlCol="0" anchor="ctr"/>
          <a:lstStyle/>
          <a:p>
            <a:pPr indent="0" marL="0">
              <a:lnSpc>
                <a:spcPts val="1600"/>
              </a:lnSpc>
              <a:buNone/>
            </a:pPr>
            <a:r>
              <a:rPr lang="en-US" sz="1000" dirty="0">
                <a:solidFill>
                  <a:srgbClr val="0F172A"/>
                </a:solidFill>
                <a:latin typeface="Malgun Gothic" pitchFamily="34" charset="0"/>
                <a:ea typeface="Malgun Gothic" pitchFamily="34" charset="-122"/>
                <a:cs typeface="Malgun Gothic" pitchFamily="34" charset="-120"/>
              </a:rPr>
              <a:t>• 전담지원 불가(N) 검사</a:t>
            </a:r>
            <a:endParaRPr lang="en-US" sz="1000" dirty="0"/>
          </a:p>
          <a:p>
            <a:pPr indent="0" marL="0">
              <a:lnSpc>
                <a:spcPts val="1600"/>
              </a:lnSpc>
              <a:buNone/>
            </a:pPr>
            <a:r>
              <a:rPr lang="en-US" sz="1000" dirty="0">
                <a:solidFill>
                  <a:srgbClr val="0F172A"/>
                </a:solidFill>
                <a:latin typeface="Malgun Gothic" pitchFamily="34" charset="0"/>
                <a:ea typeface="Malgun Gothic" pitchFamily="34" charset="-122"/>
                <a:cs typeface="Malgun Gothic" pitchFamily="34" charset="-120"/>
              </a:rPr>
              <a:t>• 간호사 배정 시 강제 차단</a:t>
            </a:r>
            <a:endParaRPr lang="en-US" sz="1000" dirty="0"/>
          </a:p>
          <a:p>
            <a:pPr indent="0" marL="0">
              <a:lnSpc>
                <a:spcPts val="1600"/>
              </a:lnSpc>
              <a:buNone/>
            </a:pPr>
            <a:r>
              <a:rPr lang="en-US" sz="1000" dirty="0">
                <a:solidFill>
                  <a:srgbClr val="0F172A"/>
                </a:solidFill>
                <a:latin typeface="Malgun Gothic" pitchFamily="34" charset="0"/>
                <a:ea typeface="Malgun Gothic" pitchFamily="34" charset="-122"/>
                <a:cs typeface="Malgun Gothic" pitchFamily="34" charset="-120"/>
              </a:rPr>
              <a:t>• 의사 직통으로 강제 변경</a:t>
            </a:r>
            <a:endParaRPr lang="en-US" sz="1000" dirty="0"/>
          </a:p>
          <a:p>
            <a:pPr indent="0" marL="0">
              <a:lnSpc>
                <a:spcPts val="1600"/>
              </a:lnSpc>
              <a:buNone/>
            </a:pPr>
            <a:r>
              <a:rPr lang="en-US" sz="1000" dirty="0">
                <a:solidFill>
                  <a:srgbClr val="0F172A"/>
                </a:solidFill>
                <a:latin typeface="Malgun Gothic" pitchFamily="34" charset="0"/>
                <a:ea typeface="Malgun Gothic" pitchFamily="34" charset="-122"/>
                <a:cs typeface="Malgun Gothic" pitchFamily="34" charset="-120"/>
              </a:rPr>
              <a:t>• 최종 연락처 매핑</a:t>
            </a:r>
            <a:endParaRPr lang="en-US" sz="1000" dirty="0"/>
          </a:p>
          <a:p>
            <a:pPr indent="0" marL="0">
              <a:lnSpc>
                <a:spcPts val="1600"/>
              </a:lnSpc>
              <a:buNone/>
            </a:pPr>
            <a:r>
              <a:rPr lang="en-US" sz="1000" dirty="0">
                <a:solidFill>
                  <a:srgbClr val="0F172A"/>
                </a:solidFill>
                <a:latin typeface="Malgun Gothic" pitchFamily="34" charset="0"/>
                <a:ea typeface="Malgun Gothic" pitchFamily="34" charset="-122"/>
                <a:cs typeface="Malgun Gothic" pitchFamily="34" charset="-120"/>
              </a:rPr>
              <a:t>• 1/2순위 백업 라인 생성</a:t>
            </a:r>
            <a:endParaRPr lang="en-US" sz="1000" dirty="0"/>
          </a:p>
        </p:txBody>
      </p:sp>
      <p:sp>
        <p:nvSpPr>
          <p:cNvPr id="36" name="Shape 34"/>
          <p:cNvSpPr/>
          <p:nvPr/>
        </p:nvSpPr>
        <p:spPr>
          <a:xfrm>
            <a:off x="731520" y="5715000"/>
            <a:ext cx="10515600" cy="685800"/>
          </a:xfrm>
          <a:prstGeom prst="roundRect">
            <a:avLst>
              <a:gd name="adj" fmla="val 13333"/>
            </a:avLst>
          </a:prstGeom>
          <a:solidFill>
            <a:srgbClr val="0F172A"/>
          </a:solidFill>
          <a:ln/>
        </p:spPr>
      </p:sp>
      <p:sp>
        <p:nvSpPr>
          <p:cNvPr id="37" name="Text 35"/>
          <p:cNvSpPr/>
          <p:nvPr/>
        </p:nvSpPr>
        <p:spPr>
          <a:xfrm>
            <a:off x="914400" y="5852160"/>
            <a:ext cx="10149840" cy="411480"/>
          </a:xfrm>
          <a:prstGeom prst="rect">
            <a:avLst/>
          </a:prstGeom>
          <a:noFill/>
          <a:ln/>
        </p:spPr>
        <p:txBody>
          <a:bodyPr wrap="square"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결과 출력: [최우선 배정자] + [직통 UCAP / 당직폰 번호] + [DUMC 톡] + [업무 표준 지침] + [1순위/2순위 백업 UCAP]</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284C7"/>
          </a:solidFill>
          <a:ln/>
        </p:spPr>
      </p:sp>
      <p:sp>
        <p:nvSpPr>
          <p:cNvPr id="3" name="Text 1"/>
          <p:cNvSpPr/>
          <p:nvPr/>
        </p:nvSpPr>
        <p:spPr>
          <a:xfrm>
            <a:off x="731520" y="320040"/>
            <a:ext cx="7315200" cy="228600"/>
          </a:xfrm>
          <a:prstGeom prst="rect">
            <a:avLst/>
          </a:prstGeom>
          <a:noFill/>
          <a:ln/>
        </p:spPr>
        <p:txBody>
          <a:bodyPr wrap="square" rtlCol="0" anchor="ctr"/>
          <a:lstStyle/>
          <a:p>
            <a:pPr indent="0" marL="0">
              <a:buNone/>
            </a:pPr>
            <a:r>
              <a:rPr lang="en-US" sz="1000" b="1" dirty="0">
                <a:solidFill>
                  <a:srgbClr val="0284C7"/>
                </a:solidFill>
                <a:latin typeface="Malgun Gothic" pitchFamily="34" charset="0"/>
                <a:ea typeface="Malgun Gothic" pitchFamily="34" charset="-122"/>
                <a:cs typeface="Malgun Gothic" pitchFamily="34" charset="-120"/>
              </a:rPr>
              <a:t>DETAILED DOMAIN ROUTING RULES</a:t>
            </a:r>
            <a:endParaRPr lang="en-US" sz="1000" dirty="0"/>
          </a:p>
        </p:txBody>
      </p:sp>
      <p:sp>
        <p:nvSpPr>
          <p:cNvPr id="4" name="Text 2"/>
          <p:cNvSpPr/>
          <p:nvPr/>
        </p:nvSpPr>
        <p:spPr>
          <a:xfrm>
            <a:off x="731520" y="548640"/>
            <a:ext cx="9144000" cy="502920"/>
          </a:xfrm>
          <a:prstGeom prst="rect">
            <a:avLst/>
          </a:prstGeom>
          <a:noFill/>
          <a:ln/>
        </p:spPr>
        <p:txBody>
          <a:bodyPr wrap="square" rtlCol="0" anchor="ctr"/>
          <a:lstStyle/>
          <a:p>
            <a:pPr indent="0" marL="0">
              <a:buNone/>
            </a:pPr>
            <a:r>
              <a:rPr lang="en-US" sz="2000" b="1" dirty="0">
                <a:solidFill>
                  <a:srgbClr val="0F172A"/>
                </a:solidFill>
                <a:latin typeface="Malgun Gothic" pitchFamily="34" charset="0"/>
                <a:ea typeface="Malgun Gothic" pitchFamily="34" charset="-122"/>
                <a:cs typeface="Malgun Gothic" pitchFamily="34" charset="-120"/>
              </a:rPr>
              <a:t>알고리즘 상세 비교: 내과계 vs 비내과계 매칭 규칙</a:t>
            </a:r>
            <a:endParaRPr lang="en-US" sz="2000" dirty="0"/>
          </a:p>
        </p:txBody>
      </p:sp>
      <p:sp>
        <p:nvSpPr>
          <p:cNvPr id="5" name="Text 3"/>
          <p:cNvSpPr/>
          <p:nvPr/>
        </p:nvSpPr>
        <p:spPr>
          <a:xfrm>
            <a:off x="10789920" y="457200"/>
            <a:ext cx="914400" cy="365760"/>
          </a:xfrm>
          <a:prstGeom prst="rect">
            <a:avLst/>
          </a:prstGeom>
          <a:noFill/>
          <a:ln/>
        </p:spPr>
        <p:txBody>
          <a:bodyPr wrap="square" rtlCol="0" anchor="ctr"/>
          <a:lstStyle/>
          <a:p>
            <a:pPr algn="r" indent="0" marL="0">
              <a:buNone/>
            </a:pPr>
            <a:r>
              <a:rPr lang="en-US" sz="1200" b="1" dirty="0">
                <a:solidFill>
                  <a:srgbClr val="475569"/>
                </a:solidFill>
                <a:latin typeface="Arial" pitchFamily="34" charset="0"/>
                <a:ea typeface="Arial" pitchFamily="34" charset="-122"/>
                <a:cs typeface="Arial" pitchFamily="34" charset="-120"/>
              </a:rPr>
              <a:t>05 / 10</a:t>
            </a:r>
            <a:endParaRPr lang="en-US" sz="1200" dirty="0"/>
          </a:p>
        </p:txBody>
      </p:sp>
      <p:sp>
        <p:nvSpPr>
          <p:cNvPr id="6" name="Shape 4"/>
          <p:cNvSpPr/>
          <p:nvPr/>
        </p:nvSpPr>
        <p:spPr>
          <a:xfrm>
            <a:off x="731520" y="1143000"/>
            <a:ext cx="10698480" cy="0"/>
          </a:xfrm>
          <a:prstGeom prst="line">
            <a:avLst/>
          </a:prstGeom>
          <a:noFill/>
          <a:ln w="19050">
            <a:solidFill>
              <a:srgbClr val="E2E8F0"/>
            </a:solidFill>
            <a:prstDash val="solid"/>
          </a:ln>
        </p:spPr>
      </p:sp>
      <p:sp>
        <p:nvSpPr>
          <p:cNvPr id="7" name="Shape 5"/>
          <p:cNvSpPr/>
          <p:nvPr/>
        </p:nvSpPr>
        <p:spPr>
          <a:xfrm>
            <a:off x="731520" y="1371600"/>
            <a:ext cx="5120640" cy="4937760"/>
          </a:xfrm>
          <a:prstGeom prst="roundRect">
            <a:avLst>
              <a:gd name="adj" fmla="val 2778"/>
            </a:avLst>
          </a:prstGeom>
          <a:solidFill>
            <a:srgbClr val="FFFFFF"/>
          </a:solidFill>
          <a:ln w="19050">
            <a:solidFill>
              <a:srgbClr val="0284C7"/>
            </a:solidFill>
            <a:prstDash val="solid"/>
          </a:ln>
        </p:spPr>
      </p:sp>
      <p:sp>
        <p:nvSpPr>
          <p:cNvPr id="8" name="Shape 6"/>
          <p:cNvSpPr/>
          <p:nvPr/>
        </p:nvSpPr>
        <p:spPr>
          <a:xfrm>
            <a:off x="731520" y="1371600"/>
            <a:ext cx="5120640" cy="502920"/>
          </a:xfrm>
          <a:prstGeom prst="rect">
            <a:avLst/>
          </a:prstGeom>
          <a:solidFill>
            <a:srgbClr val="0284C7"/>
          </a:solidFill>
          <a:ln/>
        </p:spPr>
      </p:sp>
      <p:sp>
        <p:nvSpPr>
          <p:cNvPr id="9" name="Text 7"/>
          <p:cNvSpPr/>
          <p:nvPr/>
        </p:nvSpPr>
        <p:spPr>
          <a:xfrm>
            <a:off x="914400" y="1463040"/>
            <a:ext cx="4754880" cy="320040"/>
          </a:xfrm>
          <a:prstGeom prst="rect">
            <a:avLst/>
          </a:prstGeom>
          <a:noFill/>
          <a:ln/>
        </p:spPr>
        <p:txBody>
          <a:bodyPr wrap="square"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 내과계 (Internal Medicine) 라우팅 규칙</a:t>
            </a:r>
            <a:endParaRPr lang="en-US" sz="1300" dirty="0"/>
          </a:p>
        </p:txBody>
      </p:sp>
      <p:sp>
        <p:nvSpPr>
          <p:cNvPr id="10" name="Text 8"/>
          <p:cNvSpPr/>
          <p:nvPr/>
        </p:nvSpPr>
        <p:spPr>
          <a:xfrm>
            <a:off x="914400" y="1965960"/>
            <a:ext cx="4754880" cy="4206240"/>
          </a:xfrm>
          <a:prstGeom prst="rect">
            <a:avLst/>
          </a:prstGeom>
          <a:noFill/>
          <a:ln/>
        </p:spPr>
        <p:txBody>
          <a:bodyPr wrap="square" rtlCol="0" anchor="ctr"/>
          <a:lstStyle/>
          <a:p>
            <a:pPr indent="0" marL="0">
              <a:lnSpc>
                <a:spcPts val="1500"/>
              </a:lnSpc>
              <a:buNone/>
            </a:pPr>
            <a:r>
              <a:rPr lang="en-US" sz="1000" dirty="0">
                <a:solidFill>
                  <a:srgbClr val="0F172A"/>
                </a:solidFill>
                <a:latin typeface="Malgun Gothic" pitchFamily="34" charset="0"/>
                <a:ea typeface="Malgun Gothic" pitchFamily="34" charset="-122"/>
                <a:cs typeface="Malgun Gothic" pitchFamily="34" charset="-120"/>
              </a:rPr>
              <a:t>• 병동 이원화 관리:</a:t>
            </a:r>
            <a:endParaRPr lang="en-US" sz="1000" dirty="0"/>
          </a:p>
          <a:p>
            <a:pPr indent="0" marL="0">
              <a:lnSpc>
                <a:spcPts val="1500"/>
              </a:lnSpc>
              <a:buNone/>
            </a:pPr>
            <a:r>
              <a:rPr lang="en-US" sz="1000" dirty="0">
                <a:solidFill>
                  <a:srgbClr val="0F172A"/>
                </a:solidFill>
                <a:latin typeface="Malgun Gothic" pitchFamily="34" charset="0"/>
                <a:ea typeface="Malgun Gothic" pitchFamily="34" charset="-122"/>
                <a:cs typeface="Malgun Gothic" pitchFamily="34" charset="-120"/>
              </a:rPr>
              <a:t>  - Group 1: 42, 61, 62, 82, 92, 102, MICU ➔ 내과 1 (인턴1)</a:t>
            </a:r>
            <a:endParaRPr lang="en-US" sz="1000" dirty="0"/>
          </a:p>
          <a:p>
            <a:pPr indent="0" marL="0">
              <a:lnSpc>
                <a:spcPts val="1500"/>
              </a:lnSpc>
              <a:buNone/>
            </a:pPr>
            <a:r>
              <a:rPr lang="en-US" sz="1000" dirty="0">
                <a:solidFill>
                  <a:srgbClr val="0F172A"/>
                </a:solidFill>
                <a:latin typeface="Malgun Gothic" pitchFamily="34" charset="0"/>
                <a:ea typeface="Malgun Gothic" pitchFamily="34" charset="-122"/>
                <a:cs typeface="Malgun Gothic" pitchFamily="34" charset="-120"/>
              </a:rPr>
              <a:t>  - Group 2: 71, 72, 81, 101, 111, 112, 121 ➔ 내과 2 (인턴2)</a:t>
            </a:r>
            <a:endParaRPr lang="en-US" sz="1000" dirty="0"/>
          </a:p>
          <a:p>
            <a:pPr indent="0" marL="0">
              <a:lnSpc>
                <a:spcPts val="1500"/>
              </a:lnSpc>
              <a:buNone/>
            </a:pPr>
            <a:r>
              <a:rPr lang="en-US" sz="1000" dirty="0">
                <a:solidFill>
                  <a:srgbClr val="0F172A"/>
                </a:solidFill>
                <a:latin typeface="Malgun Gothic" pitchFamily="34" charset="0"/>
                <a:ea typeface="Malgun Gothic" pitchFamily="34" charset="-122"/>
                <a:cs typeface="Malgun Gothic" pitchFamily="34" charset="-120"/>
              </a:rPr>
              <a:t>• 연락처 원칙: 당직의 개인 UCAP 및 개인폰 실시간 매칭</a:t>
            </a:r>
            <a:endParaRPr lang="en-US" sz="1000" dirty="0"/>
          </a:p>
          <a:p>
            <a:pPr indent="0" marL="0">
              <a:lnSpc>
                <a:spcPts val="1500"/>
              </a:lnSpc>
              <a:buNone/>
            </a:pPr>
            <a:r>
              <a:rPr lang="en-US" sz="1000" dirty="0">
                <a:solidFill>
                  <a:srgbClr val="0F172A"/>
                </a:solidFill>
                <a:latin typeface="Malgun Gothic" pitchFamily="34" charset="0"/>
                <a:ea typeface="Malgun Gothic" pitchFamily="34" charset="-122"/>
                <a:cs typeface="Malgun Gothic" pitchFamily="34" charset="-120"/>
              </a:rPr>
              <a:t>• 수혈 동의서: 상시 인턴 전담 (전담간호사 지원 절대 불가)</a:t>
            </a:r>
            <a:endParaRPr lang="en-US" sz="1000" dirty="0"/>
          </a:p>
          <a:p>
            <a:pPr indent="0" marL="0">
              <a:lnSpc>
                <a:spcPts val="1500"/>
              </a:lnSpc>
              <a:buNone/>
            </a:pPr>
            <a:r>
              <a:rPr lang="en-US" sz="1000" dirty="0">
                <a:solidFill>
                  <a:srgbClr val="0F172A"/>
                </a:solidFill>
                <a:latin typeface="Malgun Gothic" pitchFamily="34" charset="0"/>
                <a:ea typeface="Malgun Gothic" pitchFamily="34" charset="-122"/>
                <a:cs typeface="Malgun Gothic" pitchFamily="34" charset="-120"/>
              </a:rPr>
              <a:t>• ABGA / Line 채혈:</a:t>
            </a:r>
            <a:endParaRPr lang="en-US" sz="1000" dirty="0"/>
          </a:p>
          <a:p>
            <a:pPr indent="0" marL="0">
              <a:lnSpc>
                <a:spcPts val="1500"/>
              </a:lnSpc>
              <a:buNone/>
            </a:pPr>
            <a:r>
              <a:rPr lang="en-US" sz="1000" dirty="0">
                <a:solidFill>
                  <a:srgbClr val="0F172A"/>
                </a:solidFill>
                <a:latin typeface="Malgun Gothic" pitchFamily="34" charset="0"/>
                <a:ea typeface="Malgun Gothic" pitchFamily="34" charset="-122"/>
                <a:cs typeface="Malgun Gothic" pitchFamily="34" charset="-120"/>
              </a:rPr>
              <a:t>  - 평일 정규: MICU는 인턴 / 일반병동은 공통전담간호사</a:t>
            </a:r>
            <a:endParaRPr lang="en-US" sz="1000" dirty="0"/>
          </a:p>
          <a:p>
            <a:pPr indent="0" marL="0">
              <a:lnSpc>
                <a:spcPts val="1500"/>
              </a:lnSpc>
              <a:buNone/>
            </a:pPr>
            <a:r>
              <a:rPr lang="en-US" sz="1000" dirty="0">
                <a:solidFill>
                  <a:srgbClr val="0F172A"/>
                </a:solidFill>
                <a:latin typeface="Malgun Gothic" pitchFamily="34" charset="0"/>
                <a:ea typeface="Malgun Gothic" pitchFamily="34" charset="-122"/>
                <a:cs typeface="Malgun Gothic" pitchFamily="34" charset="-120"/>
              </a:rPr>
              <a:t>  - 야간(22~08시): Group 1은 당직전담, Group 2는 내과2</a:t>
            </a:r>
            <a:endParaRPr lang="en-US" sz="1000" dirty="0"/>
          </a:p>
          <a:p>
            <a:pPr indent="0" marL="0">
              <a:lnSpc>
                <a:spcPts val="1500"/>
              </a:lnSpc>
              <a:buNone/>
            </a:pPr>
            <a:r>
              <a:rPr lang="en-US" sz="1000" dirty="0">
                <a:solidFill>
                  <a:srgbClr val="0F172A"/>
                </a:solidFill>
                <a:latin typeface="Malgun Gothic" pitchFamily="34" charset="0"/>
                <a:ea typeface="Malgun Gothic" pitchFamily="34" charset="-122"/>
                <a:cs typeface="Malgun Gothic" pitchFamily="34" charset="-120"/>
              </a:rPr>
              <a:t>• T-tube 교체: MICU는 내과1, 일반병동 야간은 전공의 별도안내</a:t>
            </a:r>
            <a:endParaRPr lang="en-US" sz="1000" dirty="0"/>
          </a:p>
          <a:p>
            <a:pPr indent="0" marL="0">
              <a:lnSpc>
                <a:spcPts val="1500"/>
              </a:lnSpc>
              <a:buNone/>
            </a:pPr>
            <a:r>
              <a:rPr lang="en-US" sz="1000" dirty="0">
                <a:solidFill>
                  <a:srgbClr val="0F172A"/>
                </a:solidFill>
                <a:latin typeface="Malgun Gothic" pitchFamily="34" charset="0"/>
                <a:ea typeface="Malgun Gothic" pitchFamily="34" charset="-122"/>
                <a:cs typeface="Malgun Gothic" pitchFamily="34" charset="-120"/>
              </a:rPr>
              <a:t>• 조영제/진정 동의서: 08~22시 공통전담 / 심야는 당직인턴</a:t>
            </a:r>
            <a:endParaRPr lang="en-US" sz="1000" dirty="0"/>
          </a:p>
        </p:txBody>
      </p:sp>
      <p:sp>
        <p:nvSpPr>
          <p:cNvPr id="11" name="Shape 9"/>
          <p:cNvSpPr/>
          <p:nvPr/>
        </p:nvSpPr>
        <p:spPr>
          <a:xfrm>
            <a:off x="6126480" y="1371600"/>
            <a:ext cx="5120640" cy="4937760"/>
          </a:xfrm>
          <a:prstGeom prst="roundRect">
            <a:avLst>
              <a:gd name="adj" fmla="val 2778"/>
            </a:avLst>
          </a:prstGeom>
          <a:solidFill>
            <a:srgbClr val="FFFFFF"/>
          </a:solidFill>
          <a:ln w="19050">
            <a:solidFill>
              <a:srgbClr val="0D9488"/>
            </a:solidFill>
            <a:prstDash val="solid"/>
          </a:ln>
        </p:spPr>
      </p:sp>
      <p:sp>
        <p:nvSpPr>
          <p:cNvPr id="12" name="Shape 10"/>
          <p:cNvSpPr/>
          <p:nvPr/>
        </p:nvSpPr>
        <p:spPr>
          <a:xfrm>
            <a:off x="6126480" y="1371600"/>
            <a:ext cx="5120640" cy="502920"/>
          </a:xfrm>
          <a:prstGeom prst="rect">
            <a:avLst/>
          </a:prstGeom>
          <a:solidFill>
            <a:srgbClr val="0D9488"/>
          </a:solidFill>
          <a:ln/>
        </p:spPr>
      </p:sp>
      <p:sp>
        <p:nvSpPr>
          <p:cNvPr id="13" name="Text 11"/>
          <p:cNvSpPr/>
          <p:nvPr/>
        </p:nvSpPr>
        <p:spPr>
          <a:xfrm>
            <a:off x="6309360" y="1463040"/>
            <a:ext cx="4754880" cy="320040"/>
          </a:xfrm>
          <a:prstGeom prst="rect">
            <a:avLst/>
          </a:prstGeom>
          <a:noFill/>
          <a:ln/>
        </p:spPr>
        <p:txBody>
          <a:bodyPr wrap="square"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 비내과계 (Non-IM / 외과계) 라우팅 규칙</a:t>
            </a:r>
            <a:endParaRPr lang="en-US" sz="1300" dirty="0"/>
          </a:p>
        </p:txBody>
      </p:sp>
      <p:sp>
        <p:nvSpPr>
          <p:cNvPr id="14" name="Text 12"/>
          <p:cNvSpPr/>
          <p:nvPr/>
        </p:nvSpPr>
        <p:spPr>
          <a:xfrm>
            <a:off x="6309360" y="1965960"/>
            <a:ext cx="4754880" cy="4206240"/>
          </a:xfrm>
          <a:prstGeom prst="rect">
            <a:avLst/>
          </a:prstGeom>
          <a:noFill/>
          <a:ln/>
        </p:spPr>
        <p:txBody>
          <a:bodyPr wrap="square" rtlCol="0" anchor="ctr"/>
          <a:lstStyle/>
          <a:p>
            <a:pPr indent="0" marL="0">
              <a:lnSpc>
                <a:spcPts val="1500"/>
              </a:lnSpc>
              <a:buNone/>
            </a:pPr>
            <a:r>
              <a:rPr lang="en-US" sz="1000" dirty="0">
                <a:solidFill>
                  <a:srgbClr val="0F172A"/>
                </a:solidFill>
                <a:latin typeface="Malgun Gothic" pitchFamily="34" charset="0"/>
                <a:ea typeface="Malgun Gothic" pitchFamily="34" charset="-122"/>
                <a:cs typeface="Malgun Gothic" pitchFamily="34" charset="-120"/>
              </a:rPr>
              <a:t>• 3인 당직 체계 &amp; 공용 당직폰 우선 연결:</a:t>
            </a:r>
            <a:endParaRPr lang="en-US" sz="1000" dirty="0"/>
          </a:p>
          <a:p>
            <a:pPr indent="0" marL="0">
              <a:lnSpc>
                <a:spcPts val="1500"/>
              </a:lnSpc>
              <a:buNone/>
            </a:pPr>
            <a:r>
              <a:rPr lang="en-US" sz="1000" dirty="0">
                <a:solidFill>
                  <a:srgbClr val="0F172A"/>
                </a:solidFill>
                <a:latin typeface="Malgun Gothic" pitchFamily="34" charset="0"/>
                <a:ea typeface="Malgun Gothic" pitchFamily="34" charset="-122"/>
                <a:cs typeface="Malgun Gothic" pitchFamily="34" charset="-120"/>
              </a:rPr>
              <a:t>  - 비내과 1 (5-4080 / 010-7628-5803): 응급실, 수술실 지정병동</a:t>
            </a:r>
            <a:endParaRPr lang="en-US" sz="1000" dirty="0"/>
          </a:p>
          <a:p>
            <a:pPr indent="0" marL="0">
              <a:lnSpc>
                <a:spcPts val="1500"/>
              </a:lnSpc>
              <a:buNone/>
            </a:pPr>
            <a:r>
              <a:rPr lang="en-US" sz="1000" dirty="0">
                <a:solidFill>
                  <a:srgbClr val="0F172A"/>
                </a:solidFill>
                <a:latin typeface="Malgun Gothic" pitchFamily="34" charset="0"/>
                <a:ea typeface="Malgun Gothic" pitchFamily="34" charset="-122"/>
                <a:cs typeface="Malgun Gothic" pitchFamily="34" charset="-120"/>
              </a:rPr>
              <a:t>  - 비내과 2 (5-4081 / 010-7624-5803): Group C (SICU/외과계)</a:t>
            </a:r>
            <a:endParaRPr lang="en-US" sz="1000" dirty="0"/>
          </a:p>
          <a:p>
            <a:pPr indent="0" marL="0">
              <a:lnSpc>
                <a:spcPts val="1500"/>
              </a:lnSpc>
              <a:buNone/>
            </a:pPr>
            <a:r>
              <a:rPr lang="en-US" sz="1000" dirty="0">
                <a:solidFill>
                  <a:srgbClr val="0F172A"/>
                </a:solidFill>
                <a:latin typeface="Malgun Gothic" pitchFamily="34" charset="0"/>
                <a:ea typeface="Malgun Gothic" pitchFamily="34" charset="-122"/>
                <a:cs typeface="Malgun Gothic" pitchFamily="34" charset="-120"/>
              </a:rPr>
              <a:t>  - 비내과 3 (5-3499 / 010-5794-4170): Group D (71~121병동)</a:t>
            </a:r>
            <a:endParaRPr lang="en-US" sz="1000" dirty="0"/>
          </a:p>
          <a:p>
            <a:pPr indent="0" marL="0">
              <a:lnSpc>
                <a:spcPts val="1500"/>
              </a:lnSpc>
              <a:buNone/>
            </a:pPr>
            <a:r>
              <a:rPr lang="en-US" sz="1000" dirty="0">
                <a:solidFill>
                  <a:srgbClr val="0F172A"/>
                </a:solidFill>
                <a:latin typeface="Malgun Gothic" pitchFamily="34" charset="0"/>
                <a:ea typeface="Malgun Gothic" pitchFamily="34" charset="-122"/>
                <a:cs typeface="Malgun Gothic" pitchFamily="34" charset="-120"/>
              </a:rPr>
              <a:t>• 수혈 동의서: Group C는 비내과2 / Group D는 비내과3 전담</a:t>
            </a:r>
            <a:endParaRPr lang="en-US" sz="1000" dirty="0"/>
          </a:p>
          <a:p>
            <a:pPr indent="0" marL="0">
              <a:lnSpc>
                <a:spcPts val="1500"/>
              </a:lnSpc>
              <a:buNone/>
            </a:pPr>
            <a:r>
              <a:rPr lang="en-US" sz="1000" dirty="0">
                <a:solidFill>
                  <a:srgbClr val="0F172A"/>
                </a:solidFill>
                <a:latin typeface="Malgun Gothic" pitchFamily="34" charset="0"/>
                <a:ea typeface="Malgun Gothic" pitchFamily="34" charset="-122"/>
                <a:cs typeface="Malgun Gothic" pitchFamily="34" charset="-120"/>
              </a:rPr>
              <a:t>• 특수 및 요일별 예외 규칙 (규칙 빌더 연동):</a:t>
            </a:r>
            <a:endParaRPr lang="en-US" sz="1000" dirty="0"/>
          </a:p>
          <a:p>
            <a:pPr indent="0" marL="0">
              <a:lnSpc>
                <a:spcPts val="1500"/>
              </a:lnSpc>
              <a:buNone/>
            </a:pPr>
            <a:r>
              <a:rPr lang="en-US" sz="1000" dirty="0">
                <a:solidFill>
                  <a:srgbClr val="0F172A"/>
                </a:solidFill>
                <a:latin typeface="Malgun Gothic" pitchFamily="34" charset="0"/>
                <a:ea typeface="Malgun Gothic" pitchFamily="34" charset="-122"/>
                <a:cs typeface="Malgun Gothic" pitchFamily="34" charset="-120"/>
              </a:rPr>
              <a:t>  - 통합의학과 사망선언 ➔ 비내과 2 (5-4081) 고정</a:t>
            </a:r>
            <a:endParaRPr lang="en-US" sz="1000" dirty="0"/>
          </a:p>
          <a:p>
            <a:pPr indent="0" marL="0">
              <a:lnSpc>
                <a:spcPts val="1500"/>
              </a:lnSpc>
              <a:buNone/>
            </a:pPr>
            <a:r>
              <a:rPr lang="en-US" sz="1000" dirty="0">
                <a:solidFill>
                  <a:srgbClr val="0F172A"/>
                </a:solidFill>
                <a:latin typeface="Malgun Gothic" pitchFamily="34" charset="0"/>
                <a:ea typeface="Malgun Gothic" pitchFamily="34" charset="-122"/>
                <a:cs typeface="Malgun Gothic" pitchFamily="34" charset="-120"/>
              </a:rPr>
              <a:t>  - 주말/휴일 욕창(3단계 sore) 드레싱 ➔ 비내과 1 (5-4080)</a:t>
            </a:r>
            <a:endParaRPr lang="en-US" sz="1000" dirty="0"/>
          </a:p>
          <a:p>
            <a:pPr indent="0" marL="0">
              <a:lnSpc>
                <a:spcPts val="1500"/>
              </a:lnSpc>
              <a:buNone/>
            </a:pPr>
            <a:r>
              <a:rPr lang="en-US" sz="1000" dirty="0">
                <a:solidFill>
                  <a:srgbClr val="0F172A"/>
                </a:solidFill>
                <a:latin typeface="Malgun Gothic" pitchFamily="34" charset="0"/>
                <a:ea typeface="Malgun Gothic" pitchFamily="34" charset="-122"/>
                <a:cs typeface="Malgun Gothic" pitchFamily="34" charset="-120"/>
              </a:rPr>
              <a:t>  - 일요일 UR Op site 수술부위 드레싱 ➔ 비내과 1 (5-4080)</a:t>
            </a:r>
            <a:endParaRPr lang="en-US" sz="1000" dirty="0"/>
          </a:p>
          <a:p>
            <a:pPr indent="0" marL="0">
              <a:lnSpc>
                <a:spcPts val="1500"/>
              </a:lnSpc>
              <a:buNone/>
            </a:pPr>
            <a:r>
              <a:rPr lang="en-US" sz="1000" dirty="0">
                <a:solidFill>
                  <a:srgbClr val="0F172A"/>
                </a:solidFill>
                <a:latin typeface="Malgun Gothic" pitchFamily="34" charset="0"/>
                <a:ea typeface="Malgun Gothic" pitchFamily="34" charset="-122"/>
                <a:cs typeface="Malgun Gothic" pitchFamily="34" charset="-120"/>
              </a:rPr>
              <a:t>  - 일요일 AN 마취동의서 ➔ 비내과 1 (5-4080)</a:t>
            </a:r>
            <a:endParaRPr lang="en-US" sz="1000" dirty="0"/>
          </a:p>
          <a:p>
            <a:pPr indent="0" marL="0">
              <a:lnSpc>
                <a:spcPts val="1500"/>
              </a:lnSpc>
              <a:buNone/>
            </a:pPr>
            <a:r>
              <a:rPr lang="en-US" sz="1000" dirty="0">
                <a:solidFill>
                  <a:srgbClr val="0F172A"/>
                </a:solidFill>
                <a:latin typeface="Malgun Gothic" pitchFamily="34" charset="0"/>
                <a:ea typeface="Malgun Gothic" pitchFamily="34" charset="-122"/>
                <a:cs typeface="Malgun Gothic" pitchFamily="34" charset="-120"/>
              </a:rPr>
              <a:t>  - 응급수술 Assist ➔ 1순위 비내과1, 부재 시 2순위 비내과2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284C7"/>
          </a:solidFill>
          <a:ln/>
        </p:spPr>
      </p:sp>
      <p:sp>
        <p:nvSpPr>
          <p:cNvPr id="3" name="Text 1"/>
          <p:cNvSpPr/>
          <p:nvPr/>
        </p:nvSpPr>
        <p:spPr>
          <a:xfrm>
            <a:off x="731520" y="320040"/>
            <a:ext cx="7315200" cy="228600"/>
          </a:xfrm>
          <a:prstGeom prst="rect">
            <a:avLst/>
          </a:prstGeom>
          <a:noFill/>
          <a:ln/>
        </p:spPr>
        <p:txBody>
          <a:bodyPr wrap="square" rtlCol="0" anchor="ctr"/>
          <a:lstStyle/>
          <a:p>
            <a:pPr indent="0" marL="0">
              <a:buNone/>
            </a:pPr>
            <a:r>
              <a:rPr lang="en-US" sz="1000" b="1" dirty="0">
                <a:solidFill>
                  <a:srgbClr val="0284C7"/>
                </a:solidFill>
                <a:latin typeface="Malgun Gothic" pitchFamily="34" charset="0"/>
                <a:ea typeface="Malgun Gothic" pitchFamily="34" charset="-122"/>
                <a:cs typeface="Malgun Gothic" pitchFamily="34" charset="-120"/>
              </a:rPr>
              <a:t>USER EXPERIENCE &amp; CLINICAL UI</a:t>
            </a:r>
            <a:endParaRPr lang="en-US" sz="1000" dirty="0"/>
          </a:p>
        </p:txBody>
      </p:sp>
      <p:sp>
        <p:nvSpPr>
          <p:cNvPr id="4" name="Text 2"/>
          <p:cNvSpPr/>
          <p:nvPr/>
        </p:nvSpPr>
        <p:spPr>
          <a:xfrm>
            <a:off x="731520" y="548640"/>
            <a:ext cx="9144000" cy="502920"/>
          </a:xfrm>
          <a:prstGeom prst="rect">
            <a:avLst/>
          </a:prstGeom>
          <a:noFill/>
          <a:ln/>
        </p:spPr>
        <p:txBody>
          <a:bodyPr wrap="square" rtlCol="0" anchor="ctr"/>
          <a:lstStyle/>
          <a:p>
            <a:pPr indent="0" marL="0">
              <a:buNone/>
            </a:pPr>
            <a:r>
              <a:rPr lang="en-US" sz="2000" b="1" dirty="0">
                <a:solidFill>
                  <a:srgbClr val="0F172A"/>
                </a:solidFill>
                <a:latin typeface="Malgun Gothic" pitchFamily="34" charset="0"/>
                <a:ea typeface="Malgun Gothic" pitchFamily="34" charset="-122"/>
                <a:cs typeface="Malgun Gothic" pitchFamily="34" charset="-120"/>
              </a:rPr>
              <a:t>임상 간호사 중심의 사용자 화면 (User View)</a:t>
            </a:r>
            <a:endParaRPr lang="en-US" sz="2000" dirty="0"/>
          </a:p>
        </p:txBody>
      </p:sp>
      <p:sp>
        <p:nvSpPr>
          <p:cNvPr id="5" name="Text 3"/>
          <p:cNvSpPr/>
          <p:nvPr/>
        </p:nvSpPr>
        <p:spPr>
          <a:xfrm>
            <a:off x="10789920" y="457200"/>
            <a:ext cx="914400" cy="365760"/>
          </a:xfrm>
          <a:prstGeom prst="rect">
            <a:avLst/>
          </a:prstGeom>
          <a:noFill/>
          <a:ln/>
        </p:spPr>
        <p:txBody>
          <a:bodyPr wrap="square" rtlCol="0" anchor="ctr"/>
          <a:lstStyle/>
          <a:p>
            <a:pPr algn="r" indent="0" marL="0">
              <a:buNone/>
            </a:pPr>
            <a:r>
              <a:rPr lang="en-US" sz="1200" b="1" dirty="0">
                <a:solidFill>
                  <a:srgbClr val="475569"/>
                </a:solidFill>
                <a:latin typeface="Arial" pitchFamily="34" charset="0"/>
                <a:ea typeface="Arial" pitchFamily="34" charset="-122"/>
                <a:cs typeface="Arial" pitchFamily="34" charset="-120"/>
              </a:rPr>
              <a:t>06 / 10</a:t>
            </a:r>
            <a:endParaRPr lang="en-US" sz="1200" dirty="0"/>
          </a:p>
        </p:txBody>
      </p:sp>
      <p:sp>
        <p:nvSpPr>
          <p:cNvPr id="6" name="Shape 4"/>
          <p:cNvSpPr/>
          <p:nvPr/>
        </p:nvSpPr>
        <p:spPr>
          <a:xfrm>
            <a:off x="731520" y="1143000"/>
            <a:ext cx="10698480" cy="0"/>
          </a:xfrm>
          <a:prstGeom prst="line">
            <a:avLst/>
          </a:prstGeom>
          <a:noFill/>
          <a:ln w="19050">
            <a:solidFill>
              <a:srgbClr val="E2E8F0"/>
            </a:solidFill>
            <a:prstDash val="solid"/>
          </a:ln>
        </p:spPr>
      </p:sp>
      <p:sp>
        <p:nvSpPr>
          <p:cNvPr id="7" name="Shape 5"/>
          <p:cNvSpPr/>
          <p:nvPr/>
        </p:nvSpPr>
        <p:spPr>
          <a:xfrm>
            <a:off x="731520" y="1371600"/>
            <a:ext cx="4389120" cy="4937760"/>
          </a:xfrm>
          <a:prstGeom prst="roundRect">
            <a:avLst>
              <a:gd name="adj" fmla="val 3125"/>
            </a:avLst>
          </a:prstGeom>
          <a:solidFill>
            <a:srgbClr val="FFFFFF"/>
          </a:solidFill>
          <a:ln w="12700">
            <a:solidFill>
              <a:srgbClr val="CBD5E1"/>
            </a:solidFill>
            <a:prstDash val="solid"/>
          </a:ln>
        </p:spPr>
      </p:sp>
      <p:sp>
        <p:nvSpPr>
          <p:cNvPr id="8" name="Text 6"/>
          <p:cNvSpPr/>
          <p:nvPr/>
        </p:nvSpPr>
        <p:spPr>
          <a:xfrm>
            <a:off x="1005840" y="1554480"/>
            <a:ext cx="3840480" cy="320040"/>
          </a:xfrm>
          <a:prstGeom prst="rect">
            <a:avLst/>
          </a:prstGeom>
          <a:noFill/>
          <a:ln/>
        </p:spPr>
        <p:txBody>
          <a:bodyPr wrap="square" rtlCol="0" anchor="ctr"/>
          <a:lstStyle/>
          <a:p>
            <a:pPr indent="0" marL="0">
              <a:buNone/>
            </a:pPr>
            <a:r>
              <a:rPr lang="en-US" sz="1300" b="1" dirty="0">
                <a:solidFill>
                  <a:srgbClr val="0F172A"/>
                </a:solidFill>
                <a:latin typeface="Malgun Gothic" pitchFamily="34" charset="0"/>
                <a:ea typeface="Malgun Gothic" pitchFamily="34" charset="-122"/>
                <a:cs typeface="Malgun Gothic" pitchFamily="34" charset="-120"/>
              </a:rPr>
              <a:t>호출 조건 선택 영역 (입력 패널)</a:t>
            </a:r>
            <a:endParaRPr lang="en-US" sz="1300" dirty="0"/>
          </a:p>
        </p:txBody>
      </p:sp>
      <p:sp>
        <p:nvSpPr>
          <p:cNvPr id="9" name="Shape 7"/>
          <p:cNvSpPr/>
          <p:nvPr/>
        </p:nvSpPr>
        <p:spPr>
          <a:xfrm>
            <a:off x="914400" y="2011680"/>
            <a:ext cx="4023360" cy="713232"/>
          </a:xfrm>
          <a:prstGeom prst="roundRect">
            <a:avLst>
              <a:gd name="adj" fmla="val 10256"/>
            </a:avLst>
          </a:prstGeom>
          <a:solidFill>
            <a:srgbClr val="F8FAFC"/>
          </a:solidFill>
          <a:ln w="12700">
            <a:solidFill>
              <a:srgbClr val="E2E8F0"/>
            </a:solidFill>
            <a:prstDash val="solid"/>
          </a:ln>
        </p:spPr>
      </p:sp>
      <p:sp>
        <p:nvSpPr>
          <p:cNvPr id="10" name="Text 8"/>
          <p:cNvSpPr/>
          <p:nvPr/>
        </p:nvSpPr>
        <p:spPr>
          <a:xfrm>
            <a:off x="1051560" y="2084832"/>
            <a:ext cx="3749040" cy="256032"/>
          </a:xfrm>
          <a:prstGeom prst="rect">
            <a:avLst/>
          </a:prstGeom>
          <a:noFill/>
          <a:ln/>
        </p:spPr>
        <p:txBody>
          <a:bodyPr wrap="square" rtlCol="0" anchor="ctr"/>
          <a:lstStyle/>
          <a:p>
            <a:pPr indent="0" marL="0">
              <a:buNone/>
            </a:pPr>
            <a:r>
              <a:rPr lang="en-US" sz="1050" b="1" dirty="0">
                <a:solidFill>
                  <a:srgbClr val="0284C7"/>
                </a:solidFill>
                <a:latin typeface="Malgun Gothic" pitchFamily="34" charset="0"/>
                <a:ea typeface="Malgun Gothic" pitchFamily="34" charset="-122"/>
                <a:cs typeface="Malgun Gothic" pitchFamily="34" charset="-120"/>
              </a:rPr>
              <a:t>1. 환자 진료계열 선택</a:t>
            </a:r>
            <a:endParaRPr lang="en-US" sz="1050" dirty="0"/>
          </a:p>
        </p:txBody>
      </p:sp>
      <p:sp>
        <p:nvSpPr>
          <p:cNvPr id="11" name="Text 9"/>
          <p:cNvSpPr/>
          <p:nvPr/>
        </p:nvSpPr>
        <p:spPr>
          <a:xfrm>
            <a:off x="1051560" y="2340864"/>
            <a:ext cx="3749040" cy="320040"/>
          </a:xfrm>
          <a:prstGeom prst="rect">
            <a:avLst/>
          </a:prstGeom>
          <a:noFill/>
          <a:ln/>
        </p:spPr>
        <p:txBody>
          <a:bodyPr wrap="square" rtlCol="0" anchor="ctr"/>
          <a:lstStyle/>
          <a:p>
            <a:pPr indent="0" marL="0">
              <a:buNone/>
            </a:pPr>
            <a:r>
              <a:rPr lang="en-US" sz="950" dirty="0">
                <a:solidFill>
                  <a:srgbClr val="475569"/>
                </a:solidFill>
                <a:latin typeface="Malgun Gothic" pitchFamily="34" charset="0"/>
                <a:ea typeface="Malgun Gothic" pitchFamily="34" charset="-122"/>
                <a:cs typeface="Malgun Gothic" pitchFamily="34" charset="-120"/>
              </a:rPr>
              <a:t>[내과계열] vs [비내과계열] 원클릭 토글</a:t>
            </a:r>
            <a:endParaRPr lang="en-US" sz="950" dirty="0"/>
          </a:p>
        </p:txBody>
      </p:sp>
      <p:sp>
        <p:nvSpPr>
          <p:cNvPr id="12" name="Shape 10"/>
          <p:cNvSpPr/>
          <p:nvPr/>
        </p:nvSpPr>
        <p:spPr>
          <a:xfrm>
            <a:off x="914400" y="2834640"/>
            <a:ext cx="4023360" cy="713232"/>
          </a:xfrm>
          <a:prstGeom prst="roundRect">
            <a:avLst>
              <a:gd name="adj" fmla="val 10256"/>
            </a:avLst>
          </a:prstGeom>
          <a:solidFill>
            <a:srgbClr val="F8FAFC"/>
          </a:solidFill>
          <a:ln w="12700">
            <a:solidFill>
              <a:srgbClr val="E2E8F0"/>
            </a:solidFill>
            <a:prstDash val="solid"/>
          </a:ln>
        </p:spPr>
      </p:sp>
      <p:sp>
        <p:nvSpPr>
          <p:cNvPr id="13" name="Text 11"/>
          <p:cNvSpPr/>
          <p:nvPr/>
        </p:nvSpPr>
        <p:spPr>
          <a:xfrm>
            <a:off x="1051560" y="2907792"/>
            <a:ext cx="3749040" cy="256032"/>
          </a:xfrm>
          <a:prstGeom prst="rect">
            <a:avLst/>
          </a:prstGeom>
          <a:noFill/>
          <a:ln/>
        </p:spPr>
        <p:txBody>
          <a:bodyPr wrap="square" rtlCol="0" anchor="ctr"/>
          <a:lstStyle/>
          <a:p>
            <a:pPr indent="0" marL="0">
              <a:buNone/>
            </a:pPr>
            <a:r>
              <a:rPr lang="en-US" sz="1050" b="1" dirty="0">
                <a:solidFill>
                  <a:srgbClr val="0284C7"/>
                </a:solidFill>
                <a:latin typeface="Malgun Gothic" pitchFamily="34" charset="0"/>
                <a:ea typeface="Malgun Gothic" pitchFamily="34" charset="-122"/>
                <a:cs typeface="Malgun Gothic" pitchFamily="34" charset="-120"/>
              </a:rPr>
              <a:t>2. 요청 병동 선택 (⭐ 내 병동 기억)</a:t>
            </a:r>
            <a:endParaRPr lang="en-US" sz="1050" dirty="0"/>
          </a:p>
        </p:txBody>
      </p:sp>
      <p:sp>
        <p:nvSpPr>
          <p:cNvPr id="14" name="Text 12"/>
          <p:cNvSpPr/>
          <p:nvPr/>
        </p:nvSpPr>
        <p:spPr>
          <a:xfrm>
            <a:off x="1051560" y="3163824"/>
            <a:ext cx="3749040" cy="320040"/>
          </a:xfrm>
          <a:prstGeom prst="rect">
            <a:avLst/>
          </a:prstGeom>
          <a:noFill/>
          <a:ln/>
        </p:spPr>
        <p:txBody>
          <a:bodyPr wrap="square" rtlCol="0" anchor="ctr"/>
          <a:lstStyle/>
          <a:p>
            <a:pPr indent="0" marL="0">
              <a:buNone/>
            </a:pPr>
            <a:r>
              <a:rPr lang="en-US" sz="950" dirty="0">
                <a:solidFill>
                  <a:srgbClr val="475569"/>
                </a:solidFill>
                <a:latin typeface="Malgun Gothic" pitchFamily="34" charset="0"/>
                <a:ea typeface="Malgun Gothic" pitchFamily="34" charset="-122"/>
                <a:cs typeface="Malgun Gothic" pitchFamily="34" charset="-120"/>
              </a:rPr>
              <a:t>자주 근무하는 병동을 브라우저에 기본 저장</a:t>
            </a:r>
            <a:endParaRPr lang="en-US" sz="950" dirty="0"/>
          </a:p>
        </p:txBody>
      </p:sp>
      <p:sp>
        <p:nvSpPr>
          <p:cNvPr id="15" name="Shape 13"/>
          <p:cNvSpPr/>
          <p:nvPr/>
        </p:nvSpPr>
        <p:spPr>
          <a:xfrm>
            <a:off x="914400" y="3657600"/>
            <a:ext cx="4023360" cy="713232"/>
          </a:xfrm>
          <a:prstGeom prst="roundRect">
            <a:avLst>
              <a:gd name="adj" fmla="val 10256"/>
            </a:avLst>
          </a:prstGeom>
          <a:solidFill>
            <a:srgbClr val="F8FAFC"/>
          </a:solidFill>
          <a:ln w="12700">
            <a:solidFill>
              <a:srgbClr val="E2E8F0"/>
            </a:solidFill>
            <a:prstDash val="solid"/>
          </a:ln>
        </p:spPr>
      </p:sp>
      <p:sp>
        <p:nvSpPr>
          <p:cNvPr id="16" name="Text 14"/>
          <p:cNvSpPr/>
          <p:nvPr/>
        </p:nvSpPr>
        <p:spPr>
          <a:xfrm>
            <a:off x="1051560" y="3730752"/>
            <a:ext cx="3749040" cy="256032"/>
          </a:xfrm>
          <a:prstGeom prst="rect">
            <a:avLst/>
          </a:prstGeom>
          <a:noFill/>
          <a:ln/>
        </p:spPr>
        <p:txBody>
          <a:bodyPr wrap="square" rtlCol="0" anchor="ctr"/>
          <a:lstStyle/>
          <a:p>
            <a:pPr indent="0" marL="0">
              <a:buNone/>
            </a:pPr>
            <a:r>
              <a:rPr lang="en-US" sz="1050" b="1" dirty="0">
                <a:solidFill>
                  <a:srgbClr val="0284C7"/>
                </a:solidFill>
                <a:latin typeface="Malgun Gothic" pitchFamily="34" charset="0"/>
                <a:ea typeface="Malgun Gothic" pitchFamily="34" charset="-122"/>
                <a:cs typeface="Malgun Gothic" pitchFamily="34" charset="-120"/>
              </a:rPr>
              <a:t>3. 요청 업무 자동완성 검색</a:t>
            </a:r>
            <a:endParaRPr lang="en-US" sz="1050" dirty="0"/>
          </a:p>
        </p:txBody>
      </p:sp>
      <p:sp>
        <p:nvSpPr>
          <p:cNvPr id="17" name="Text 15"/>
          <p:cNvSpPr/>
          <p:nvPr/>
        </p:nvSpPr>
        <p:spPr>
          <a:xfrm>
            <a:off x="1051560" y="3986784"/>
            <a:ext cx="3749040" cy="320040"/>
          </a:xfrm>
          <a:prstGeom prst="rect">
            <a:avLst/>
          </a:prstGeom>
          <a:noFill/>
          <a:ln/>
        </p:spPr>
        <p:txBody>
          <a:bodyPr wrap="square" rtlCol="0" anchor="ctr"/>
          <a:lstStyle/>
          <a:p>
            <a:pPr indent="0" marL="0">
              <a:buNone/>
            </a:pPr>
            <a:r>
              <a:rPr lang="en-US" sz="950" dirty="0">
                <a:solidFill>
                  <a:srgbClr val="475569"/>
                </a:solidFill>
                <a:latin typeface="Malgun Gothic" pitchFamily="34" charset="0"/>
                <a:ea typeface="Malgun Gothic" pitchFamily="34" charset="-122"/>
                <a:cs typeface="Malgun Gothic" pitchFamily="34" charset="-120"/>
              </a:rPr>
              <a:t>EKG, 사망, 드레싱, 수혈 등 20종 키워드 검색</a:t>
            </a:r>
            <a:endParaRPr lang="en-US" sz="950" dirty="0"/>
          </a:p>
        </p:txBody>
      </p:sp>
      <p:sp>
        <p:nvSpPr>
          <p:cNvPr id="18" name="Shape 16"/>
          <p:cNvSpPr/>
          <p:nvPr/>
        </p:nvSpPr>
        <p:spPr>
          <a:xfrm>
            <a:off x="914400" y="4480560"/>
            <a:ext cx="4023360" cy="713232"/>
          </a:xfrm>
          <a:prstGeom prst="roundRect">
            <a:avLst>
              <a:gd name="adj" fmla="val 10256"/>
            </a:avLst>
          </a:prstGeom>
          <a:solidFill>
            <a:srgbClr val="F8FAFC"/>
          </a:solidFill>
          <a:ln w="12700">
            <a:solidFill>
              <a:srgbClr val="E2E8F0"/>
            </a:solidFill>
            <a:prstDash val="solid"/>
          </a:ln>
        </p:spPr>
      </p:sp>
      <p:sp>
        <p:nvSpPr>
          <p:cNvPr id="19" name="Text 17"/>
          <p:cNvSpPr/>
          <p:nvPr/>
        </p:nvSpPr>
        <p:spPr>
          <a:xfrm>
            <a:off x="1051560" y="4553712"/>
            <a:ext cx="3749040" cy="256032"/>
          </a:xfrm>
          <a:prstGeom prst="rect">
            <a:avLst/>
          </a:prstGeom>
          <a:noFill/>
          <a:ln/>
        </p:spPr>
        <p:txBody>
          <a:bodyPr wrap="square" rtlCol="0" anchor="ctr"/>
          <a:lstStyle/>
          <a:p>
            <a:pPr indent="0" marL="0">
              <a:buNone/>
            </a:pPr>
            <a:r>
              <a:rPr lang="en-US" sz="1050" b="1" dirty="0">
                <a:solidFill>
                  <a:srgbClr val="0284C7"/>
                </a:solidFill>
                <a:latin typeface="Malgun Gothic" pitchFamily="34" charset="0"/>
                <a:ea typeface="Malgun Gothic" pitchFamily="34" charset="-122"/>
                <a:cs typeface="Malgun Gothic" pitchFamily="34" charset="-120"/>
              </a:rPr>
              <a:t>4. 호출 일시 &amp; 공휴일 감지</a:t>
            </a:r>
            <a:endParaRPr lang="en-US" sz="1050" dirty="0"/>
          </a:p>
        </p:txBody>
      </p:sp>
      <p:sp>
        <p:nvSpPr>
          <p:cNvPr id="20" name="Text 18"/>
          <p:cNvSpPr/>
          <p:nvPr/>
        </p:nvSpPr>
        <p:spPr>
          <a:xfrm>
            <a:off x="1051560" y="4809744"/>
            <a:ext cx="3749040" cy="320040"/>
          </a:xfrm>
          <a:prstGeom prst="rect">
            <a:avLst/>
          </a:prstGeom>
          <a:noFill/>
          <a:ln/>
        </p:spPr>
        <p:txBody>
          <a:bodyPr wrap="square" rtlCol="0" anchor="ctr"/>
          <a:lstStyle/>
          <a:p>
            <a:pPr indent="0" marL="0">
              <a:buNone/>
            </a:pPr>
            <a:r>
              <a:rPr lang="en-US" sz="950" dirty="0">
                <a:solidFill>
                  <a:srgbClr val="475569"/>
                </a:solidFill>
                <a:latin typeface="Malgun Gothic" pitchFamily="34" charset="0"/>
                <a:ea typeface="Malgun Gothic" pitchFamily="34" charset="-122"/>
                <a:cs typeface="Malgun Gothic" pitchFamily="34" charset="-120"/>
              </a:rPr>
              <a:t>현재시간 1초 동기화, 주말/공휴일 뱃지 자동 부여</a:t>
            </a:r>
            <a:endParaRPr lang="en-US" sz="950" dirty="0"/>
          </a:p>
        </p:txBody>
      </p:sp>
      <p:sp>
        <p:nvSpPr>
          <p:cNvPr id="21" name="Shape 19"/>
          <p:cNvSpPr/>
          <p:nvPr/>
        </p:nvSpPr>
        <p:spPr>
          <a:xfrm>
            <a:off x="914400" y="5303520"/>
            <a:ext cx="4023360" cy="713232"/>
          </a:xfrm>
          <a:prstGeom prst="roundRect">
            <a:avLst>
              <a:gd name="adj" fmla="val 10256"/>
            </a:avLst>
          </a:prstGeom>
          <a:solidFill>
            <a:srgbClr val="F8FAFC"/>
          </a:solidFill>
          <a:ln w="12700">
            <a:solidFill>
              <a:srgbClr val="E2E8F0"/>
            </a:solidFill>
            <a:prstDash val="solid"/>
          </a:ln>
        </p:spPr>
      </p:sp>
      <p:sp>
        <p:nvSpPr>
          <p:cNvPr id="22" name="Text 20"/>
          <p:cNvSpPr/>
          <p:nvPr/>
        </p:nvSpPr>
        <p:spPr>
          <a:xfrm>
            <a:off x="1051560" y="5376672"/>
            <a:ext cx="3749040" cy="256032"/>
          </a:xfrm>
          <a:prstGeom prst="rect">
            <a:avLst/>
          </a:prstGeom>
          <a:noFill/>
          <a:ln/>
        </p:spPr>
        <p:txBody>
          <a:bodyPr wrap="square" rtlCol="0" anchor="ctr"/>
          <a:lstStyle/>
          <a:p>
            <a:pPr indent="0" marL="0">
              <a:buNone/>
            </a:pPr>
            <a:r>
              <a:rPr lang="en-US" sz="1050" b="1" dirty="0">
                <a:solidFill>
                  <a:srgbClr val="0284C7"/>
                </a:solidFill>
                <a:latin typeface="Malgun Gothic" pitchFamily="34" charset="0"/>
                <a:ea typeface="Malgun Gothic" pitchFamily="34" charset="-122"/>
                <a:cs typeface="Malgun Gothic" pitchFamily="34" charset="-120"/>
              </a:rPr>
              <a:t>⚡ 규칙 빌더 퀵 프리셋 칩</a:t>
            </a:r>
            <a:endParaRPr lang="en-US" sz="1050" dirty="0"/>
          </a:p>
        </p:txBody>
      </p:sp>
      <p:sp>
        <p:nvSpPr>
          <p:cNvPr id="23" name="Text 21"/>
          <p:cNvSpPr/>
          <p:nvPr/>
        </p:nvSpPr>
        <p:spPr>
          <a:xfrm>
            <a:off x="1051560" y="5632704"/>
            <a:ext cx="3749040" cy="320040"/>
          </a:xfrm>
          <a:prstGeom prst="rect">
            <a:avLst/>
          </a:prstGeom>
          <a:noFill/>
          <a:ln/>
        </p:spPr>
        <p:txBody>
          <a:bodyPr wrap="square" rtlCol="0" anchor="ctr"/>
          <a:lstStyle/>
          <a:p>
            <a:pPr indent="0" marL="0">
              <a:buNone/>
            </a:pPr>
            <a:r>
              <a:rPr lang="en-US" sz="950" dirty="0">
                <a:solidFill>
                  <a:srgbClr val="475569"/>
                </a:solidFill>
                <a:latin typeface="Malgun Gothic" pitchFamily="34" charset="0"/>
                <a:ea typeface="Malgun Gothic" pitchFamily="34" charset="-122"/>
                <a:cs typeface="Malgun Gothic" pitchFamily="34" charset="-120"/>
              </a:rPr>
              <a:t>관리자가 등록한 주요 예외 상황 원클릭 자동 설정</a:t>
            </a:r>
            <a:endParaRPr lang="en-US" sz="950" dirty="0"/>
          </a:p>
        </p:txBody>
      </p:sp>
      <p:sp>
        <p:nvSpPr>
          <p:cNvPr id="24" name="Shape 22"/>
          <p:cNvSpPr/>
          <p:nvPr/>
        </p:nvSpPr>
        <p:spPr>
          <a:xfrm>
            <a:off x="5394960" y="1371600"/>
            <a:ext cx="5852160" cy="4937760"/>
          </a:xfrm>
          <a:prstGeom prst="roundRect">
            <a:avLst>
              <a:gd name="adj" fmla="val 2778"/>
            </a:avLst>
          </a:prstGeom>
          <a:solidFill>
            <a:srgbClr val="FFFFFF"/>
          </a:solidFill>
          <a:ln w="25400">
            <a:solidFill>
              <a:srgbClr val="06B6D4"/>
            </a:solidFill>
            <a:prstDash val="solid"/>
          </a:ln>
        </p:spPr>
      </p:sp>
      <p:sp>
        <p:nvSpPr>
          <p:cNvPr id="25" name="Shape 23"/>
          <p:cNvSpPr/>
          <p:nvPr/>
        </p:nvSpPr>
        <p:spPr>
          <a:xfrm>
            <a:off x="5394960" y="1371600"/>
            <a:ext cx="5852160" cy="640080"/>
          </a:xfrm>
          <a:prstGeom prst="rect">
            <a:avLst/>
          </a:prstGeom>
          <a:solidFill>
            <a:srgbClr val="0F172A"/>
          </a:solidFill>
          <a:ln/>
        </p:spPr>
      </p:sp>
      <p:sp>
        <p:nvSpPr>
          <p:cNvPr id="26" name="Text 24"/>
          <p:cNvSpPr/>
          <p:nvPr/>
        </p:nvSpPr>
        <p:spPr>
          <a:xfrm>
            <a:off x="5669280" y="1554480"/>
            <a:ext cx="5303520" cy="274320"/>
          </a:xfrm>
          <a:prstGeom prst="rect">
            <a:avLst/>
          </a:prstGeom>
          <a:noFill/>
          <a:ln/>
        </p:spPr>
        <p:txBody>
          <a:bodyPr wrap="square" rtlCol="0" anchor="ctr"/>
          <a:lstStyle/>
          <a:p>
            <a:pPr indent="0" marL="0">
              <a:buNone/>
            </a:pPr>
            <a:r>
              <a:rPr lang="en-US" sz="1300" b="1" dirty="0">
                <a:solidFill>
                  <a:srgbClr val="06B6D4"/>
                </a:solidFill>
                <a:latin typeface="Malgun Gothic" pitchFamily="34" charset="0"/>
                <a:ea typeface="Malgun Gothic" pitchFamily="34" charset="-122"/>
                <a:cs typeface="Malgun Gothic" pitchFamily="34" charset="-120"/>
              </a:rPr>
              <a:t>당직 매칭 성공 (최우선 연결 대상)</a:t>
            </a:r>
            <a:endParaRPr lang="en-US" sz="1300" dirty="0"/>
          </a:p>
        </p:txBody>
      </p:sp>
      <p:sp>
        <p:nvSpPr>
          <p:cNvPr id="27" name="Shape 25"/>
          <p:cNvSpPr/>
          <p:nvPr/>
        </p:nvSpPr>
        <p:spPr>
          <a:xfrm>
            <a:off x="5669280" y="2194560"/>
            <a:ext cx="5303520" cy="1188720"/>
          </a:xfrm>
          <a:prstGeom prst="roundRect">
            <a:avLst>
              <a:gd name="adj" fmla="val 7692"/>
            </a:avLst>
          </a:prstGeom>
          <a:solidFill>
            <a:srgbClr val="E0F2FE"/>
          </a:solidFill>
          <a:ln w="12700">
            <a:solidFill>
              <a:srgbClr val="0284C7"/>
            </a:solidFill>
            <a:prstDash val="solid"/>
          </a:ln>
        </p:spPr>
      </p:sp>
      <p:sp>
        <p:nvSpPr>
          <p:cNvPr id="28" name="Text 26"/>
          <p:cNvSpPr/>
          <p:nvPr/>
        </p:nvSpPr>
        <p:spPr>
          <a:xfrm>
            <a:off x="5852160" y="2331720"/>
            <a:ext cx="4937760" cy="320040"/>
          </a:xfrm>
          <a:prstGeom prst="rect">
            <a:avLst/>
          </a:prstGeom>
          <a:noFill/>
          <a:ln/>
        </p:spPr>
        <p:txBody>
          <a:bodyPr wrap="square" rtlCol="0" anchor="ctr"/>
          <a:lstStyle/>
          <a:p>
            <a:pPr indent="0" marL="0">
              <a:buNone/>
            </a:pPr>
            <a:r>
              <a:rPr lang="en-US" sz="1400" b="1" dirty="0">
                <a:solidFill>
                  <a:srgbClr val="0F172A"/>
                </a:solidFill>
                <a:latin typeface="Malgun Gothic" pitchFamily="34" charset="0"/>
                <a:ea typeface="Malgun Gothic" pitchFamily="34" charset="-122"/>
                <a:cs typeface="Malgun Gothic" pitchFamily="34" charset="-120"/>
              </a:rPr>
              <a:t>최우선 호출 대상: 내과1 (인턴1) 정소영 전공의</a:t>
            </a:r>
            <a:endParaRPr lang="en-US" sz="1400" dirty="0"/>
          </a:p>
        </p:txBody>
      </p:sp>
      <p:sp>
        <p:nvSpPr>
          <p:cNvPr id="29" name="Text 27"/>
          <p:cNvSpPr/>
          <p:nvPr/>
        </p:nvSpPr>
        <p:spPr>
          <a:xfrm>
            <a:off x="5852160" y="2697480"/>
            <a:ext cx="4937760" cy="320040"/>
          </a:xfrm>
          <a:prstGeom prst="rect">
            <a:avLst/>
          </a:prstGeom>
          <a:noFill/>
          <a:ln/>
        </p:spPr>
        <p:txBody>
          <a:bodyPr wrap="square" rtlCol="0" anchor="ctr"/>
          <a:lstStyle/>
          <a:p>
            <a:pPr indent="0" marL="0">
              <a:buNone/>
            </a:pPr>
            <a:r>
              <a:rPr lang="en-US" sz="1100" b="1" dirty="0">
                <a:solidFill>
                  <a:srgbClr val="0284C7"/>
                </a:solidFill>
                <a:latin typeface="Malgun Gothic" pitchFamily="34" charset="0"/>
                <a:ea typeface="Malgun Gothic" pitchFamily="34" charset="-122"/>
                <a:cs typeface="Malgun Gothic" pitchFamily="34" charset="-120"/>
              </a:rPr>
              <a:t>📞 병동 내선(UCAP): 52644 (클릭 즉시 다이얼)   |   📱 개인폰: 010-3948-1029</a:t>
            </a:r>
            <a:endParaRPr lang="en-US" sz="1100" dirty="0"/>
          </a:p>
        </p:txBody>
      </p:sp>
      <p:sp>
        <p:nvSpPr>
          <p:cNvPr id="30" name="Text 28"/>
          <p:cNvSpPr/>
          <p:nvPr/>
        </p:nvSpPr>
        <p:spPr>
          <a:xfrm>
            <a:off x="5852160" y="3017520"/>
            <a:ext cx="4937760" cy="274320"/>
          </a:xfrm>
          <a:prstGeom prst="rect">
            <a:avLst/>
          </a:prstGeom>
          <a:noFill/>
          <a:ln/>
        </p:spPr>
        <p:txBody>
          <a:bodyPr wrap="square" rtlCol="0" anchor="ctr"/>
          <a:lstStyle/>
          <a:p>
            <a:pPr indent="0" marL="0">
              <a:buNone/>
            </a:pPr>
            <a:r>
              <a:rPr lang="en-US" sz="1000" dirty="0">
                <a:solidFill>
                  <a:srgbClr val="475569"/>
                </a:solidFill>
                <a:latin typeface="Malgun Gothic" pitchFamily="34" charset="0"/>
                <a:ea typeface="Malgun Gothic" pitchFamily="34" charset="-122"/>
                <a:cs typeface="Malgun Gothic" pitchFamily="34" charset="-120"/>
              </a:rPr>
              <a:t>💬 DUMC 톡 ID: 정소영(인턴)    [연락처 클립보드 원클릭 복사]</a:t>
            </a:r>
            <a:endParaRPr lang="en-US" sz="1000" dirty="0"/>
          </a:p>
        </p:txBody>
      </p:sp>
      <p:sp>
        <p:nvSpPr>
          <p:cNvPr id="31" name="Shape 29"/>
          <p:cNvSpPr/>
          <p:nvPr/>
        </p:nvSpPr>
        <p:spPr>
          <a:xfrm>
            <a:off x="5669280" y="3520440"/>
            <a:ext cx="5303520" cy="1188720"/>
          </a:xfrm>
          <a:prstGeom prst="roundRect">
            <a:avLst>
              <a:gd name="adj" fmla="val 7692"/>
            </a:avLst>
          </a:prstGeom>
          <a:solidFill>
            <a:srgbClr val="F8FAFC"/>
          </a:solidFill>
          <a:ln w="12700">
            <a:solidFill>
              <a:srgbClr val="CBD5E1"/>
            </a:solidFill>
            <a:prstDash val="solid"/>
          </a:ln>
        </p:spPr>
      </p:sp>
      <p:sp>
        <p:nvSpPr>
          <p:cNvPr id="32" name="Text 30"/>
          <p:cNvSpPr/>
          <p:nvPr/>
        </p:nvSpPr>
        <p:spPr>
          <a:xfrm>
            <a:off x="5852160" y="3611880"/>
            <a:ext cx="4937760" cy="228600"/>
          </a:xfrm>
          <a:prstGeom prst="rect">
            <a:avLst/>
          </a:prstGeom>
          <a:noFill/>
          <a:ln/>
        </p:spPr>
        <p:txBody>
          <a:bodyPr wrap="square" rtlCol="0" anchor="ctr"/>
          <a:lstStyle/>
          <a:p>
            <a:pPr indent="0" marL="0">
              <a:buNone/>
            </a:pPr>
            <a:r>
              <a:rPr lang="en-US" sz="1100" b="1" dirty="0">
                <a:solidFill>
                  <a:srgbClr val="0D9488"/>
                </a:solidFill>
                <a:latin typeface="Malgun Gothic" pitchFamily="34" charset="0"/>
                <a:ea typeface="Malgun Gothic" pitchFamily="34" charset="-122"/>
                <a:cs typeface="Malgun Gothic" pitchFamily="34" charset="-120"/>
              </a:rPr>
              <a:t>📋 업무마스터 표준 임상 지침 &amp; 지원 기준</a:t>
            </a:r>
            <a:endParaRPr lang="en-US" sz="1100" dirty="0"/>
          </a:p>
        </p:txBody>
      </p:sp>
      <p:sp>
        <p:nvSpPr>
          <p:cNvPr id="33" name="Text 31"/>
          <p:cNvSpPr/>
          <p:nvPr/>
        </p:nvSpPr>
        <p:spPr>
          <a:xfrm>
            <a:off x="5852160" y="3886200"/>
            <a:ext cx="4937760" cy="731520"/>
          </a:xfrm>
          <a:prstGeom prst="rect">
            <a:avLst/>
          </a:prstGeom>
          <a:noFill/>
          <a:ln/>
        </p:spPr>
        <p:txBody>
          <a:bodyPr wrap="square" rtlCol="0" anchor="ctr"/>
          <a:lstStyle/>
          <a:p>
            <a:pPr indent="0" marL="0">
              <a:lnSpc>
                <a:spcPts val="1500"/>
              </a:lnSpc>
              <a:buNone/>
            </a:pPr>
            <a:r>
              <a:rPr lang="en-US" sz="950" dirty="0">
                <a:solidFill>
                  <a:srgbClr val="475569"/>
                </a:solidFill>
                <a:latin typeface="Malgun Gothic" pitchFamily="34" charset="0"/>
                <a:ea typeface="Malgun Gothic" pitchFamily="34" charset="-122"/>
                <a:cs typeface="Malgun Gothic" pitchFamily="34" charset="-120"/>
              </a:rPr>
              <a:t>• 전담지원 여부: 전담간호 지원 불가 (의료진 전담 업무)</a:t>
            </a:r>
            <a:endParaRPr lang="en-US" sz="950" dirty="0"/>
          </a:p>
          <a:p>
            <a:pPr indent="0" marL="0">
              <a:lnSpc>
                <a:spcPts val="1500"/>
              </a:lnSpc>
              <a:buNone/>
            </a:pPr>
            <a:r>
              <a:rPr lang="en-US" sz="950" dirty="0">
                <a:solidFill>
                  <a:srgbClr val="475569"/>
                </a:solidFill>
                <a:latin typeface="Malgun Gothic" pitchFamily="34" charset="0"/>
                <a:ea typeface="Malgun Gothic" pitchFamily="34" charset="-122"/>
                <a:cs typeface="Malgun Gothic" pitchFamily="34" charset="-120"/>
              </a:rPr>
              <a:t>• 시간대 배정 원칙: 정규/당직 표준 규칙 준수 (MICU 인턴 배정)</a:t>
            </a:r>
            <a:endParaRPr lang="en-US" sz="950" dirty="0"/>
          </a:p>
          <a:p>
            <a:pPr indent="0" marL="0">
              <a:lnSpc>
                <a:spcPts val="1500"/>
              </a:lnSpc>
              <a:buNone/>
            </a:pPr>
            <a:r>
              <a:rPr lang="en-US" sz="950" dirty="0">
                <a:solidFill>
                  <a:srgbClr val="475569"/>
                </a:solidFill>
                <a:latin typeface="Malgun Gothic" pitchFamily="34" charset="0"/>
                <a:ea typeface="Malgun Gothic" pitchFamily="34" charset="-122"/>
                <a:cs typeface="Malgun Gothic" pitchFamily="34" charset="-120"/>
              </a:rPr>
              <a:t>• 주의사항: 응급 수혈 필요 시 혈액은행 불출 전 동의서 서명 필수</a:t>
            </a:r>
            <a:endParaRPr lang="en-US" sz="950" dirty="0"/>
          </a:p>
        </p:txBody>
      </p:sp>
      <p:sp>
        <p:nvSpPr>
          <p:cNvPr id="34" name="Shape 32"/>
          <p:cNvSpPr/>
          <p:nvPr/>
        </p:nvSpPr>
        <p:spPr>
          <a:xfrm>
            <a:off x="5669280" y="4846320"/>
            <a:ext cx="5303520" cy="1234440"/>
          </a:xfrm>
          <a:prstGeom prst="roundRect">
            <a:avLst>
              <a:gd name="adj" fmla="val 7407"/>
            </a:avLst>
          </a:prstGeom>
          <a:solidFill>
            <a:srgbClr val="FEF3C7"/>
          </a:solidFill>
          <a:ln w="12700">
            <a:solidFill>
              <a:srgbClr val="D97706"/>
            </a:solidFill>
            <a:prstDash val="solid"/>
          </a:ln>
        </p:spPr>
      </p:sp>
      <p:sp>
        <p:nvSpPr>
          <p:cNvPr id="35" name="Text 33"/>
          <p:cNvSpPr/>
          <p:nvPr/>
        </p:nvSpPr>
        <p:spPr>
          <a:xfrm>
            <a:off x="5852160" y="4937760"/>
            <a:ext cx="4937760" cy="228600"/>
          </a:xfrm>
          <a:prstGeom prst="rect">
            <a:avLst/>
          </a:prstGeom>
          <a:noFill/>
          <a:ln/>
        </p:spPr>
        <p:txBody>
          <a:bodyPr wrap="square" rtlCol="0" anchor="ctr"/>
          <a:lstStyle/>
          <a:p>
            <a:pPr indent="0" marL="0">
              <a:buNone/>
            </a:pPr>
            <a:r>
              <a:rPr lang="en-US" sz="1100" b="1" dirty="0">
                <a:solidFill>
                  <a:srgbClr val="D97706"/>
                </a:solidFill>
                <a:latin typeface="Malgun Gothic" pitchFamily="34" charset="0"/>
                <a:ea typeface="Malgun Gothic" pitchFamily="34" charset="-122"/>
                <a:cs typeface="Malgun Gothic" pitchFamily="34" charset="-120"/>
              </a:rPr>
              <a:t>🛡️ 부재 시 비상 백업 순위 (Backup Call Line)</a:t>
            </a:r>
            <a:endParaRPr lang="en-US" sz="1100" dirty="0"/>
          </a:p>
        </p:txBody>
      </p:sp>
      <p:sp>
        <p:nvSpPr>
          <p:cNvPr id="36" name="Text 34"/>
          <p:cNvSpPr/>
          <p:nvPr/>
        </p:nvSpPr>
        <p:spPr>
          <a:xfrm>
            <a:off x="5852160" y="5212080"/>
            <a:ext cx="4937760" cy="777240"/>
          </a:xfrm>
          <a:prstGeom prst="rect">
            <a:avLst/>
          </a:prstGeom>
          <a:noFill/>
          <a:ln/>
        </p:spPr>
        <p:txBody>
          <a:bodyPr wrap="square" rtlCol="0" anchor="ctr"/>
          <a:lstStyle/>
          <a:p>
            <a:pPr indent="0" marL="0">
              <a:lnSpc>
                <a:spcPts val="1500"/>
              </a:lnSpc>
              <a:buNone/>
            </a:pPr>
            <a:r>
              <a:rPr lang="en-US" sz="950" dirty="0">
                <a:solidFill>
                  <a:srgbClr val="0F172A"/>
                </a:solidFill>
                <a:latin typeface="Malgun Gothic" pitchFamily="34" charset="0"/>
                <a:ea typeface="Malgun Gothic" pitchFamily="34" charset="-122"/>
                <a:cs typeface="Malgun Gothic" pitchFamily="34" charset="-120"/>
              </a:rPr>
              <a:t>• 1순위 백업: 비내과 1 (당직인턴 1) ➔ UCAP 5-4080 (010-7628-5803)</a:t>
            </a:r>
            <a:endParaRPr lang="en-US" sz="950" dirty="0"/>
          </a:p>
          <a:p>
            <a:pPr indent="0" marL="0">
              <a:lnSpc>
                <a:spcPts val="1500"/>
              </a:lnSpc>
              <a:buNone/>
            </a:pPr>
            <a:r>
              <a:rPr lang="en-US" sz="950" dirty="0">
                <a:solidFill>
                  <a:srgbClr val="0F172A"/>
                </a:solidFill>
                <a:latin typeface="Malgun Gothic" pitchFamily="34" charset="0"/>
                <a:ea typeface="Malgun Gothic" pitchFamily="34" charset="-122"/>
                <a:cs typeface="Malgun Gothic" pitchFamily="34" charset="-120"/>
              </a:rPr>
              <a:t>• 2순위 백업: 비내과 2 (당직인턴 2) ➔ UCAP 5-4081 (010-7624-5803)</a:t>
            </a:r>
            <a:endParaRPr lang="en-US" sz="950" dirty="0"/>
          </a:p>
          <a:p>
            <a:pPr indent="0" marL="0">
              <a:lnSpc>
                <a:spcPts val="1500"/>
              </a:lnSpc>
              <a:buNone/>
            </a:pPr>
            <a:r>
              <a:rPr lang="en-US" sz="950" dirty="0">
                <a:solidFill>
                  <a:srgbClr val="0F172A"/>
                </a:solidFill>
                <a:latin typeface="Malgun Gothic" pitchFamily="34" charset="0"/>
                <a:ea typeface="Malgun Gothic" pitchFamily="34" charset="-122"/>
                <a:cs typeface="Malgun Gothic" pitchFamily="34" charset="-120"/>
              </a:rPr>
              <a:t>• 통화 중이거나 부재 시 백업 버튼을 누르면 즉시 다음 순위자로 다이얼됩니다.</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284C7"/>
          </a:solidFill>
          <a:ln/>
        </p:spPr>
      </p:sp>
      <p:sp>
        <p:nvSpPr>
          <p:cNvPr id="3" name="Text 1"/>
          <p:cNvSpPr/>
          <p:nvPr/>
        </p:nvSpPr>
        <p:spPr>
          <a:xfrm>
            <a:off x="731520" y="320040"/>
            <a:ext cx="7315200" cy="228600"/>
          </a:xfrm>
          <a:prstGeom prst="rect">
            <a:avLst/>
          </a:prstGeom>
          <a:noFill/>
          <a:ln/>
        </p:spPr>
        <p:txBody>
          <a:bodyPr wrap="square" rtlCol="0" anchor="ctr"/>
          <a:lstStyle/>
          <a:p>
            <a:pPr indent="0" marL="0">
              <a:buNone/>
            </a:pPr>
            <a:r>
              <a:rPr lang="en-US" sz="1000" b="1" dirty="0">
                <a:solidFill>
                  <a:srgbClr val="0284C7"/>
                </a:solidFill>
                <a:latin typeface="Malgun Gothic" pitchFamily="34" charset="0"/>
                <a:ea typeface="Malgun Gothic" pitchFamily="34" charset="-122"/>
                <a:cs typeface="Malgun Gothic" pitchFamily="34" charset="-120"/>
              </a:rPr>
              <a:t>ADMIN VIEW &amp; 9 MANAGEMENT MODULES</a:t>
            </a:r>
            <a:endParaRPr lang="en-US" sz="1000" dirty="0"/>
          </a:p>
        </p:txBody>
      </p:sp>
      <p:sp>
        <p:nvSpPr>
          <p:cNvPr id="4" name="Text 2"/>
          <p:cNvSpPr/>
          <p:nvPr/>
        </p:nvSpPr>
        <p:spPr>
          <a:xfrm>
            <a:off x="731520" y="548640"/>
            <a:ext cx="9144000" cy="502920"/>
          </a:xfrm>
          <a:prstGeom prst="rect">
            <a:avLst/>
          </a:prstGeom>
          <a:noFill/>
          <a:ln/>
        </p:spPr>
        <p:txBody>
          <a:bodyPr wrap="square" rtlCol="0" anchor="ctr"/>
          <a:lstStyle/>
          <a:p>
            <a:pPr indent="0" marL="0">
              <a:buNone/>
            </a:pPr>
            <a:r>
              <a:rPr lang="en-US" sz="2000" b="1" dirty="0">
                <a:solidFill>
                  <a:srgbClr val="0F172A"/>
                </a:solidFill>
                <a:latin typeface="Malgun Gothic" pitchFamily="34" charset="0"/>
                <a:ea typeface="Malgun Gothic" pitchFamily="34" charset="-122"/>
                <a:cs typeface="Malgun Gothic" pitchFamily="34" charset="-120"/>
              </a:rPr>
              <a:t>운영자를 위한 관리자 화면 (Admin View) 9대 모듈</a:t>
            </a:r>
            <a:endParaRPr lang="en-US" sz="2000" dirty="0"/>
          </a:p>
        </p:txBody>
      </p:sp>
      <p:sp>
        <p:nvSpPr>
          <p:cNvPr id="5" name="Text 3"/>
          <p:cNvSpPr/>
          <p:nvPr/>
        </p:nvSpPr>
        <p:spPr>
          <a:xfrm>
            <a:off x="10789920" y="457200"/>
            <a:ext cx="914400" cy="365760"/>
          </a:xfrm>
          <a:prstGeom prst="rect">
            <a:avLst/>
          </a:prstGeom>
          <a:noFill/>
          <a:ln/>
        </p:spPr>
        <p:txBody>
          <a:bodyPr wrap="square" rtlCol="0" anchor="ctr"/>
          <a:lstStyle/>
          <a:p>
            <a:pPr algn="r" indent="0" marL="0">
              <a:buNone/>
            </a:pPr>
            <a:r>
              <a:rPr lang="en-US" sz="1200" b="1" dirty="0">
                <a:solidFill>
                  <a:srgbClr val="475569"/>
                </a:solidFill>
                <a:latin typeface="Arial" pitchFamily="34" charset="0"/>
                <a:ea typeface="Arial" pitchFamily="34" charset="-122"/>
                <a:cs typeface="Arial" pitchFamily="34" charset="-120"/>
              </a:rPr>
              <a:t>07 / 10</a:t>
            </a:r>
            <a:endParaRPr lang="en-US" sz="1200" dirty="0"/>
          </a:p>
        </p:txBody>
      </p:sp>
      <p:sp>
        <p:nvSpPr>
          <p:cNvPr id="6" name="Shape 4"/>
          <p:cNvSpPr/>
          <p:nvPr/>
        </p:nvSpPr>
        <p:spPr>
          <a:xfrm>
            <a:off x="731520" y="1143000"/>
            <a:ext cx="10698480" cy="0"/>
          </a:xfrm>
          <a:prstGeom prst="line">
            <a:avLst/>
          </a:prstGeom>
          <a:noFill/>
          <a:ln w="19050">
            <a:solidFill>
              <a:srgbClr val="E2E8F0"/>
            </a:solidFill>
            <a:prstDash val="solid"/>
          </a:ln>
        </p:spPr>
      </p:sp>
      <p:sp>
        <p:nvSpPr>
          <p:cNvPr id="7" name="Shape 5"/>
          <p:cNvSpPr/>
          <p:nvPr/>
        </p:nvSpPr>
        <p:spPr>
          <a:xfrm>
            <a:off x="731520" y="1371600"/>
            <a:ext cx="3429000" cy="1463040"/>
          </a:xfrm>
          <a:prstGeom prst="roundRect">
            <a:avLst>
              <a:gd name="adj" fmla="val 6250"/>
            </a:avLst>
          </a:prstGeom>
          <a:solidFill>
            <a:srgbClr val="FFFFFF"/>
          </a:solidFill>
          <a:ln w="12700">
            <a:solidFill>
              <a:srgbClr val="CBD5E1"/>
            </a:solidFill>
            <a:prstDash val="solid"/>
          </a:ln>
        </p:spPr>
      </p:sp>
      <p:sp>
        <p:nvSpPr>
          <p:cNvPr id="8" name="Text 6"/>
          <p:cNvSpPr/>
          <p:nvPr/>
        </p:nvSpPr>
        <p:spPr>
          <a:xfrm>
            <a:off x="914400" y="1536192"/>
            <a:ext cx="3063240" cy="274320"/>
          </a:xfrm>
          <a:prstGeom prst="rect">
            <a:avLst/>
          </a:prstGeom>
          <a:noFill/>
          <a:ln/>
        </p:spPr>
        <p:txBody>
          <a:bodyPr wrap="square" rtlCol="0" anchor="ctr"/>
          <a:lstStyle/>
          <a:p>
            <a:pPr indent="0" marL="0">
              <a:buNone/>
            </a:pPr>
            <a:r>
              <a:rPr lang="en-US" sz="1150" b="1" dirty="0">
                <a:solidFill>
                  <a:srgbClr val="0F172A"/>
                </a:solidFill>
                <a:latin typeface="Malgun Gothic" pitchFamily="34" charset="0"/>
                <a:ea typeface="Malgun Gothic" pitchFamily="34" charset="-122"/>
                <a:cs typeface="Malgun Gothic" pitchFamily="34" charset="-120"/>
              </a:rPr>
              <a:t>📅 1. 당직표 &amp; 엑셀 업로드</a:t>
            </a:r>
            <a:endParaRPr lang="en-US" sz="1150" dirty="0"/>
          </a:p>
        </p:txBody>
      </p:sp>
      <p:sp>
        <p:nvSpPr>
          <p:cNvPr id="9" name="Text 7"/>
          <p:cNvSpPr/>
          <p:nvPr/>
        </p:nvSpPr>
        <p:spPr>
          <a:xfrm>
            <a:off x="914400" y="1874520"/>
            <a:ext cx="3063240" cy="868680"/>
          </a:xfrm>
          <a:prstGeom prst="rect">
            <a:avLst/>
          </a:prstGeom>
          <a:noFill/>
          <a:ln/>
        </p:spPr>
        <p:txBody>
          <a:bodyPr wrap="square" rtlCol="0" anchor="ctr"/>
          <a:lstStyle/>
          <a:p>
            <a:pPr indent="0" marL="0">
              <a:lnSpc>
                <a:spcPts val="1400"/>
              </a:lnSpc>
              <a:buNone/>
            </a:pPr>
            <a:r>
              <a:rPr lang="en-US" sz="950" dirty="0">
                <a:solidFill>
                  <a:srgbClr val="475569"/>
                </a:solidFill>
                <a:latin typeface="Malgun Gothic" pitchFamily="34" charset="0"/>
                <a:ea typeface="Malgun Gothic" pitchFamily="34" charset="-122"/>
                <a:cs typeface="Malgun Gothic" pitchFamily="34" charset="-120"/>
              </a:rPr>
              <a:t>월간 캘린더/그리드 편집 및 병원 공식 엑셀 드래그 앤 드롭 업로드 자동 파싱</a:t>
            </a:r>
            <a:endParaRPr lang="en-US" sz="950" dirty="0"/>
          </a:p>
        </p:txBody>
      </p:sp>
      <p:sp>
        <p:nvSpPr>
          <p:cNvPr id="10" name="Shape 8"/>
          <p:cNvSpPr/>
          <p:nvPr/>
        </p:nvSpPr>
        <p:spPr>
          <a:xfrm>
            <a:off x="4343400" y="1371600"/>
            <a:ext cx="3429000" cy="1463040"/>
          </a:xfrm>
          <a:prstGeom prst="roundRect">
            <a:avLst>
              <a:gd name="adj" fmla="val 6250"/>
            </a:avLst>
          </a:prstGeom>
          <a:solidFill>
            <a:srgbClr val="FFFFFF"/>
          </a:solidFill>
          <a:ln w="12700">
            <a:solidFill>
              <a:srgbClr val="CBD5E1"/>
            </a:solidFill>
            <a:prstDash val="solid"/>
          </a:ln>
        </p:spPr>
      </p:sp>
      <p:sp>
        <p:nvSpPr>
          <p:cNvPr id="11" name="Text 9"/>
          <p:cNvSpPr/>
          <p:nvPr/>
        </p:nvSpPr>
        <p:spPr>
          <a:xfrm>
            <a:off x="4526280" y="1536192"/>
            <a:ext cx="3063240" cy="274320"/>
          </a:xfrm>
          <a:prstGeom prst="rect">
            <a:avLst/>
          </a:prstGeom>
          <a:noFill/>
          <a:ln/>
        </p:spPr>
        <p:txBody>
          <a:bodyPr wrap="square" rtlCol="0" anchor="ctr"/>
          <a:lstStyle/>
          <a:p>
            <a:pPr indent="0" marL="0">
              <a:buNone/>
            </a:pPr>
            <a:r>
              <a:rPr lang="en-US" sz="1150" b="1" dirty="0">
                <a:solidFill>
                  <a:srgbClr val="0F172A"/>
                </a:solidFill>
                <a:latin typeface="Malgun Gothic" pitchFamily="34" charset="0"/>
                <a:ea typeface="Malgun Gothic" pitchFamily="34" charset="-122"/>
                <a:cs typeface="Malgun Gothic" pitchFamily="34" charset="-120"/>
              </a:rPr>
              <a:t>📊 2. 구글 시트 실시간 연동</a:t>
            </a:r>
            <a:endParaRPr lang="en-US" sz="1150" dirty="0"/>
          </a:p>
        </p:txBody>
      </p:sp>
      <p:sp>
        <p:nvSpPr>
          <p:cNvPr id="12" name="Text 10"/>
          <p:cNvSpPr/>
          <p:nvPr/>
        </p:nvSpPr>
        <p:spPr>
          <a:xfrm>
            <a:off x="4526280" y="1874520"/>
            <a:ext cx="3063240" cy="868680"/>
          </a:xfrm>
          <a:prstGeom prst="rect">
            <a:avLst/>
          </a:prstGeom>
          <a:noFill/>
          <a:ln/>
        </p:spPr>
        <p:txBody>
          <a:bodyPr wrap="square" rtlCol="0" anchor="ctr"/>
          <a:lstStyle/>
          <a:p>
            <a:pPr indent="0" marL="0">
              <a:lnSpc>
                <a:spcPts val="1400"/>
              </a:lnSpc>
              <a:buNone/>
            </a:pPr>
            <a:r>
              <a:rPr lang="en-US" sz="950" dirty="0">
                <a:solidFill>
                  <a:srgbClr val="475569"/>
                </a:solidFill>
                <a:latin typeface="Malgun Gothic" pitchFamily="34" charset="0"/>
                <a:ea typeface="Malgun Gothic" pitchFamily="34" charset="-122"/>
                <a:cs typeface="Malgun Gothic" pitchFamily="34" charset="-120"/>
              </a:rPr>
              <a:t>의국 구글 스프레드시트 URL 1분 주기 백그라운드 자동 동기화 및 즉시 새로고침</a:t>
            </a:r>
            <a:endParaRPr lang="en-US" sz="950" dirty="0"/>
          </a:p>
        </p:txBody>
      </p:sp>
      <p:sp>
        <p:nvSpPr>
          <p:cNvPr id="13" name="Shape 11"/>
          <p:cNvSpPr/>
          <p:nvPr/>
        </p:nvSpPr>
        <p:spPr>
          <a:xfrm>
            <a:off x="7955280" y="1371600"/>
            <a:ext cx="3429000" cy="1463040"/>
          </a:xfrm>
          <a:prstGeom prst="roundRect">
            <a:avLst>
              <a:gd name="adj" fmla="val 6250"/>
            </a:avLst>
          </a:prstGeom>
          <a:solidFill>
            <a:srgbClr val="FFFFFF"/>
          </a:solidFill>
          <a:ln w="12700">
            <a:solidFill>
              <a:srgbClr val="CBD5E1"/>
            </a:solidFill>
            <a:prstDash val="solid"/>
          </a:ln>
        </p:spPr>
      </p:sp>
      <p:sp>
        <p:nvSpPr>
          <p:cNvPr id="14" name="Text 12"/>
          <p:cNvSpPr/>
          <p:nvPr/>
        </p:nvSpPr>
        <p:spPr>
          <a:xfrm>
            <a:off x="8138160" y="1536192"/>
            <a:ext cx="3063240" cy="274320"/>
          </a:xfrm>
          <a:prstGeom prst="rect">
            <a:avLst/>
          </a:prstGeom>
          <a:noFill/>
          <a:ln/>
        </p:spPr>
        <p:txBody>
          <a:bodyPr wrap="square" rtlCol="0" anchor="ctr"/>
          <a:lstStyle/>
          <a:p>
            <a:pPr indent="0" marL="0">
              <a:buNone/>
            </a:pPr>
            <a:r>
              <a:rPr lang="en-US" sz="1150" b="1" dirty="0">
                <a:solidFill>
                  <a:srgbClr val="0F172A"/>
                </a:solidFill>
                <a:latin typeface="Malgun Gothic" pitchFamily="34" charset="0"/>
                <a:ea typeface="Malgun Gothic" pitchFamily="34" charset="-122"/>
                <a:cs typeface="Malgun Gothic" pitchFamily="34" charset="-120"/>
              </a:rPr>
              <a:t>📋 3. 업무 마스터 설정</a:t>
            </a:r>
            <a:endParaRPr lang="en-US" sz="1150" dirty="0"/>
          </a:p>
        </p:txBody>
      </p:sp>
      <p:sp>
        <p:nvSpPr>
          <p:cNvPr id="15" name="Text 13"/>
          <p:cNvSpPr/>
          <p:nvPr/>
        </p:nvSpPr>
        <p:spPr>
          <a:xfrm>
            <a:off x="8138160" y="1874520"/>
            <a:ext cx="3063240" cy="868680"/>
          </a:xfrm>
          <a:prstGeom prst="rect">
            <a:avLst/>
          </a:prstGeom>
          <a:noFill/>
          <a:ln/>
        </p:spPr>
        <p:txBody>
          <a:bodyPr wrap="square" rtlCol="0" anchor="ctr"/>
          <a:lstStyle/>
          <a:p>
            <a:pPr indent="0" marL="0">
              <a:lnSpc>
                <a:spcPts val="1400"/>
              </a:lnSpc>
              <a:buNone/>
            </a:pPr>
            <a:r>
              <a:rPr lang="en-US" sz="950" dirty="0">
                <a:solidFill>
                  <a:srgbClr val="475569"/>
                </a:solidFill>
                <a:latin typeface="Malgun Gothic" pitchFamily="34" charset="0"/>
                <a:ea typeface="Malgun Gothic" pitchFamily="34" charset="-122"/>
                <a:cs typeface="Malgun Gothic" pitchFamily="34" charset="-120"/>
              </a:rPr>
              <a:t>20종 표준 업무 CRUD, 전담간호 지원 여부(Y/N), 시간대별 매칭 규격 제어</a:t>
            </a:r>
            <a:endParaRPr lang="en-US" sz="950" dirty="0"/>
          </a:p>
        </p:txBody>
      </p:sp>
      <p:sp>
        <p:nvSpPr>
          <p:cNvPr id="16" name="Shape 14"/>
          <p:cNvSpPr/>
          <p:nvPr/>
        </p:nvSpPr>
        <p:spPr>
          <a:xfrm>
            <a:off x="731520" y="2971800"/>
            <a:ext cx="3429000" cy="1463040"/>
          </a:xfrm>
          <a:prstGeom prst="roundRect">
            <a:avLst>
              <a:gd name="adj" fmla="val 6250"/>
            </a:avLst>
          </a:prstGeom>
          <a:solidFill>
            <a:srgbClr val="FFFFFF"/>
          </a:solidFill>
          <a:ln w="12700">
            <a:solidFill>
              <a:srgbClr val="CBD5E1"/>
            </a:solidFill>
            <a:prstDash val="solid"/>
          </a:ln>
        </p:spPr>
      </p:sp>
      <p:sp>
        <p:nvSpPr>
          <p:cNvPr id="17" name="Text 15"/>
          <p:cNvSpPr/>
          <p:nvPr/>
        </p:nvSpPr>
        <p:spPr>
          <a:xfrm>
            <a:off x="914400" y="3136392"/>
            <a:ext cx="3063240" cy="274320"/>
          </a:xfrm>
          <a:prstGeom prst="rect">
            <a:avLst/>
          </a:prstGeom>
          <a:noFill/>
          <a:ln/>
        </p:spPr>
        <p:txBody>
          <a:bodyPr wrap="square" rtlCol="0" anchor="ctr"/>
          <a:lstStyle/>
          <a:p>
            <a:pPr indent="0" marL="0">
              <a:buNone/>
            </a:pPr>
            <a:r>
              <a:rPr lang="en-US" sz="1150" b="1" dirty="0">
                <a:solidFill>
                  <a:srgbClr val="0F172A"/>
                </a:solidFill>
                <a:latin typeface="Malgun Gothic" pitchFamily="34" charset="0"/>
                <a:ea typeface="Malgun Gothic" pitchFamily="34" charset="-122"/>
                <a:cs typeface="Malgun Gothic" pitchFamily="34" charset="-120"/>
              </a:rPr>
              <a:t>⚡ 4. 규칙 빌더 (Rule Builder)</a:t>
            </a:r>
            <a:endParaRPr lang="en-US" sz="1150" dirty="0"/>
          </a:p>
        </p:txBody>
      </p:sp>
      <p:sp>
        <p:nvSpPr>
          <p:cNvPr id="18" name="Text 16"/>
          <p:cNvSpPr/>
          <p:nvPr/>
        </p:nvSpPr>
        <p:spPr>
          <a:xfrm>
            <a:off x="914400" y="3474720"/>
            <a:ext cx="3063240" cy="868680"/>
          </a:xfrm>
          <a:prstGeom prst="rect">
            <a:avLst/>
          </a:prstGeom>
          <a:noFill/>
          <a:ln/>
        </p:spPr>
        <p:txBody>
          <a:bodyPr wrap="square" rtlCol="0" anchor="ctr"/>
          <a:lstStyle/>
          <a:p>
            <a:pPr indent="0" marL="0">
              <a:lnSpc>
                <a:spcPts val="1400"/>
              </a:lnSpc>
              <a:buNone/>
            </a:pPr>
            <a:r>
              <a:rPr lang="en-US" sz="950" dirty="0">
                <a:solidFill>
                  <a:srgbClr val="475569"/>
                </a:solidFill>
                <a:latin typeface="Malgun Gothic" pitchFamily="34" charset="0"/>
                <a:ea typeface="Malgun Gothic" pitchFamily="34" charset="-122"/>
                <a:cs typeface="Malgun Gothic" pitchFamily="34" charset="-120"/>
              </a:rPr>
              <a:t>코딩 없는 조건부 동적 라우팅 규칙 생성, 우선순위 정렬 및 실시간 On/Off</a:t>
            </a:r>
            <a:endParaRPr lang="en-US" sz="950" dirty="0"/>
          </a:p>
        </p:txBody>
      </p:sp>
      <p:sp>
        <p:nvSpPr>
          <p:cNvPr id="19" name="Shape 17"/>
          <p:cNvSpPr/>
          <p:nvPr/>
        </p:nvSpPr>
        <p:spPr>
          <a:xfrm>
            <a:off x="4343400" y="2971800"/>
            <a:ext cx="3429000" cy="1463040"/>
          </a:xfrm>
          <a:prstGeom prst="roundRect">
            <a:avLst>
              <a:gd name="adj" fmla="val 6250"/>
            </a:avLst>
          </a:prstGeom>
          <a:solidFill>
            <a:srgbClr val="FFFFFF"/>
          </a:solidFill>
          <a:ln w="12700">
            <a:solidFill>
              <a:srgbClr val="CBD5E1"/>
            </a:solidFill>
            <a:prstDash val="solid"/>
          </a:ln>
        </p:spPr>
      </p:sp>
      <p:sp>
        <p:nvSpPr>
          <p:cNvPr id="20" name="Text 18"/>
          <p:cNvSpPr/>
          <p:nvPr/>
        </p:nvSpPr>
        <p:spPr>
          <a:xfrm>
            <a:off x="4526280" y="3136392"/>
            <a:ext cx="3063240" cy="274320"/>
          </a:xfrm>
          <a:prstGeom prst="rect">
            <a:avLst/>
          </a:prstGeom>
          <a:noFill/>
          <a:ln/>
        </p:spPr>
        <p:txBody>
          <a:bodyPr wrap="square" rtlCol="0" anchor="ctr"/>
          <a:lstStyle/>
          <a:p>
            <a:pPr indent="0" marL="0">
              <a:buNone/>
            </a:pPr>
            <a:r>
              <a:rPr lang="en-US" sz="1150" b="1" dirty="0">
                <a:solidFill>
                  <a:srgbClr val="0F172A"/>
                </a:solidFill>
                <a:latin typeface="Malgun Gothic" pitchFamily="34" charset="0"/>
                <a:ea typeface="Malgun Gothic" pitchFamily="34" charset="-122"/>
                <a:cs typeface="Malgun Gothic" pitchFamily="34" charset="-120"/>
              </a:rPr>
              <a:t>📞 5. 의료진 &amp; 병리사 연락망</a:t>
            </a:r>
            <a:endParaRPr lang="en-US" sz="1150" dirty="0"/>
          </a:p>
        </p:txBody>
      </p:sp>
      <p:sp>
        <p:nvSpPr>
          <p:cNvPr id="21" name="Text 19"/>
          <p:cNvSpPr/>
          <p:nvPr/>
        </p:nvSpPr>
        <p:spPr>
          <a:xfrm>
            <a:off x="4526280" y="3474720"/>
            <a:ext cx="3063240" cy="868680"/>
          </a:xfrm>
          <a:prstGeom prst="rect">
            <a:avLst/>
          </a:prstGeom>
          <a:noFill/>
          <a:ln/>
        </p:spPr>
        <p:txBody>
          <a:bodyPr wrap="square" rtlCol="0" anchor="ctr"/>
          <a:lstStyle/>
          <a:p>
            <a:pPr indent="0" marL="0">
              <a:lnSpc>
                <a:spcPts val="1400"/>
              </a:lnSpc>
              <a:buNone/>
            </a:pPr>
            <a:r>
              <a:rPr lang="en-US" sz="950" dirty="0">
                <a:solidFill>
                  <a:srgbClr val="475569"/>
                </a:solidFill>
                <a:latin typeface="Malgun Gothic" pitchFamily="34" charset="0"/>
                <a:ea typeface="Malgun Gothic" pitchFamily="34" charset="-122"/>
                <a:cs typeface="Malgun Gothic" pitchFamily="34" charset="-120"/>
              </a:rPr>
              <a:t>인턴 16명 및 전공의 연락망 관리, EKG 임상병리사 순환일정 관리</a:t>
            </a:r>
            <a:endParaRPr lang="en-US" sz="950" dirty="0"/>
          </a:p>
        </p:txBody>
      </p:sp>
      <p:sp>
        <p:nvSpPr>
          <p:cNvPr id="22" name="Shape 20"/>
          <p:cNvSpPr/>
          <p:nvPr/>
        </p:nvSpPr>
        <p:spPr>
          <a:xfrm>
            <a:off x="7955280" y="2971800"/>
            <a:ext cx="3429000" cy="1463040"/>
          </a:xfrm>
          <a:prstGeom prst="roundRect">
            <a:avLst>
              <a:gd name="adj" fmla="val 6250"/>
            </a:avLst>
          </a:prstGeom>
          <a:solidFill>
            <a:srgbClr val="FFFFFF"/>
          </a:solidFill>
          <a:ln w="12700">
            <a:solidFill>
              <a:srgbClr val="CBD5E1"/>
            </a:solidFill>
            <a:prstDash val="solid"/>
          </a:ln>
        </p:spPr>
      </p:sp>
      <p:sp>
        <p:nvSpPr>
          <p:cNvPr id="23" name="Text 21"/>
          <p:cNvSpPr/>
          <p:nvPr/>
        </p:nvSpPr>
        <p:spPr>
          <a:xfrm>
            <a:off x="8138160" y="3136392"/>
            <a:ext cx="3063240" cy="274320"/>
          </a:xfrm>
          <a:prstGeom prst="rect">
            <a:avLst/>
          </a:prstGeom>
          <a:noFill/>
          <a:ln/>
        </p:spPr>
        <p:txBody>
          <a:bodyPr wrap="square" rtlCol="0" anchor="ctr"/>
          <a:lstStyle/>
          <a:p>
            <a:pPr indent="0" marL="0">
              <a:buNone/>
            </a:pPr>
            <a:r>
              <a:rPr lang="en-US" sz="1150" b="1" dirty="0">
                <a:solidFill>
                  <a:srgbClr val="0F172A"/>
                </a:solidFill>
                <a:latin typeface="Malgun Gothic" pitchFamily="34" charset="0"/>
                <a:ea typeface="Malgun Gothic" pitchFamily="34" charset="-122"/>
                <a:cs typeface="Malgun Gothic" pitchFamily="34" charset="-120"/>
              </a:rPr>
              <a:t>👥 6. 공통전담간호 매트릭스</a:t>
            </a:r>
            <a:endParaRPr lang="en-US" sz="1150" dirty="0"/>
          </a:p>
        </p:txBody>
      </p:sp>
      <p:sp>
        <p:nvSpPr>
          <p:cNvPr id="24" name="Text 22"/>
          <p:cNvSpPr/>
          <p:nvPr/>
        </p:nvSpPr>
        <p:spPr>
          <a:xfrm>
            <a:off x="8138160" y="3474720"/>
            <a:ext cx="3063240" cy="868680"/>
          </a:xfrm>
          <a:prstGeom prst="rect">
            <a:avLst/>
          </a:prstGeom>
          <a:noFill/>
          <a:ln/>
        </p:spPr>
        <p:txBody>
          <a:bodyPr wrap="square" rtlCol="0" anchor="ctr"/>
          <a:lstStyle/>
          <a:p>
            <a:pPr indent="0" marL="0">
              <a:lnSpc>
                <a:spcPts val="1400"/>
              </a:lnSpc>
              <a:buNone/>
            </a:pPr>
            <a:r>
              <a:rPr lang="en-US" sz="950" dirty="0">
                <a:solidFill>
                  <a:srgbClr val="475569"/>
                </a:solidFill>
                <a:latin typeface="Malgun Gothic" pitchFamily="34" charset="0"/>
                <a:ea typeface="Malgun Gothic" pitchFamily="34" charset="-122"/>
                <a:cs typeface="Malgun Gothic" pitchFamily="34" charset="-120"/>
              </a:rPr>
              <a:t>6개 병동군 3교대(Day/Eve/Night) 공식 근무표 및 포스트별 UCAP/공용폰 제어</a:t>
            </a:r>
            <a:endParaRPr lang="en-US" sz="950" dirty="0"/>
          </a:p>
        </p:txBody>
      </p:sp>
      <p:sp>
        <p:nvSpPr>
          <p:cNvPr id="25" name="Shape 23"/>
          <p:cNvSpPr/>
          <p:nvPr/>
        </p:nvSpPr>
        <p:spPr>
          <a:xfrm>
            <a:off x="731520" y="4572000"/>
            <a:ext cx="3429000" cy="1463040"/>
          </a:xfrm>
          <a:prstGeom prst="roundRect">
            <a:avLst>
              <a:gd name="adj" fmla="val 6250"/>
            </a:avLst>
          </a:prstGeom>
          <a:solidFill>
            <a:srgbClr val="FFFFFF"/>
          </a:solidFill>
          <a:ln w="12700">
            <a:solidFill>
              <a:srgbClr val="CBD5E1"/>
            </a:solidFill>
            <a:prstDash val="solid"/>
          </a:ln>
        </p:spPr>
      </p:sp>
      <p:sp>
        <p:nvSpPr>
          <p:cNvPr id="26" name="Text 24"/>
          <p:cNvSpPr/>
          <p:nvPr/>
        </p:nvSpPr>
        <p:spPr>
          <a:xfrm>
            <a:off x="914400" y="4736592"/>
            <a:ext cx="3063240" cy="274320"/>
          </a:xfrm>
          <a:prstGeom prst="rect">
            <a:avLst/>
          </a:prstGeom>
          <a:noFill/>
          <a:ln/>
        </p:spPr>
        <p:txBody>
          <a:bodyPr wrap="square" rtlCol="0" anchor="ctr"/>
          <a:lstStyle/>
          <a:p>
            <a:pPr indent="0" marL="0">
              <a:buNone/>
            </a:pPr>
            <a:r>
              <a:rPr lang="en-US" sz="1150" b="1" dirty="0">
                <a:solidFill>
                  <a:srgbClr val="0F172A"/>
                </a:solidFill>
                <a:latin typeface="Malgun Gothic" pitchFamily="34" charset="0"/>
                <a:ea typeface="Malgun Gothic" pitchFamily="34" charset="-122"/>
                <a:cs typeface="Malgun Gothic" pitchFamily="34" charset="-120"/>
              </a:rPr>
              <a:t>🚨 7. 주요 핫라인 관리</a:t>
            </a:r>
            <a:endParaRPr lang="en-US" sz="1150" dirty="0"/>
          </a:p>
        </p:txBody>
      </p:sp>
      <p:sp>
        <p:nvSpPr>
          <p:cNvPr id="27" name="Text 25"/>
          <p:cNvSpPr/>
          <p:nvPr/>
        </p:nvSpPr>
        <p:spPr>
          <a:xfrm>
            <a:off x="914400" y="5074920"/>
            <a:ext cx="3063240" cy="868680"/>
          </a:xfrm>
          <a:prstGeom prst="rect">
            <a:avLst/>
          </a:prstGeom>
          <a:noFill/>
          <a:ln/>
        </p:spPr>
        <p:txBody>
          <a:bodyPr wrap="square" rtlCol="0" anchor="ctr"/>
          <a:lstStyle/>
          <a:p>
            <a:pPr indent="0" marL="0">
              <a:lnSpc>
                <a:spcPts val="1400"/>
              </a:lnSpc>
              <a:buNone/>
            </a:pPr>
            <a:r>
              <a:rPr lang="en-US" sz="950" dirty="0">
                <a:solidFill>
                  <a:srgbClr val="475569"/>
                </a:solidFill>
                <a:latin typeface="Malgun Gothic" pitchFamily="34" charset="0"/>
                <a:ea typeface="Malgun Gothic" pitchFamily="34" charset="-122"/>
                <a:cs typeface="Malgun Gothic" pitchFamily="34" charset="-120"/>
              </a:rPr>
              <a:t>응급실(ER), 중환자실(MICU/SICU), 수술실(OR), 진단검사 등 긴급 다이얼</a:t>
            </a:r>
            <a:endParaRPr lang="en-US" sz="950" dirty="0"/>
          </a:p>
        </p:txBody>
      </p:sp>
      <p:sp>
        <p:nvSpPr>
          <p:cNvPr id="28" name="Shape 26"/>
          <p:cNvSpPr/>
          <p:nvPr/>
        </p:nvSpPr>
        <p:spPr>
          <a:xfrm>
            <a:off x="4343400" y="4572000"/>
            <a:ext cx="3429000" cy="1463040"/>
          </a:xfrm>
          <a:prstGeom prst="roundRect">
            <a:avLst>
              <a:gd name="adj" fmla="val 6250"/>
            </a:avLst>
          </a:prstGeom>
          <a:solidFill>
            <a:srgbClr val="FFFFFF"/>
          </a:solidFill>
          <a:ln w="12700">
            <a:solidFill>
              <a:srgbClr val="CBD5E1"/>
            </a:solidFill>
            <a:prstDash val="solid"/>
          </a:ln>
        </p:spPr>
      </p:sp>
      <p:sp>
        <p:nvSpPr>
          <p:cNvPr id="29" name="Text 27"/>
          <p:cNvSpPr/>
          <p:nvPr/>
        </p:nvSpPr>
        <p:spPr>
          <a:xfrm>
            <a:off x="4526280" y="4736592"/>
            <a:ext cx="3063240" cy="274320"/>
          </a:xfrm>
          <a:prstGeom prst="rect">
            <a:avLst/>
          </a:prstGeom>
          <a:noFill/>
          <a:ln/>
        </p:spPr>
        <p:txBody>
          <a:bodyPr wrap="square" rtlCol="0" anchor="ctr"/>
          <a:lstStyle/>
          <a:p>
            <a:pPr indent="0" marL="0">
              <a:buNone/>
            </a:pPr>
            <a:r>
              <a:rPr lang="en-US" sz="1150" b="1" dirty="0">
                <a:solidFill>
                  <a:srgbClr val="0F172A"/>
                </a:solidFill>
                <a:latin typeface="Malgun Gothic" pitchFamily="34" charset="0"/>
                <a:ea typeface="Malgun Gothic" pitchFamily="34" charset="-122"/>
                <a:cs typeface="Malgun Gothic" pitchFamily="34" charset="-120"/>
              </a:rPr>
              <a:t>🔒 8. 사용자 및 권한 (RBAC)</a:t>
            </a:r>
            <a:endParaRPr lang="en-US" sz="1150" dirty="0"/>
          </a:p>
        </p:txBody>
      </p:sp>
      <p:sp>
        <p:nvSpPr>
          <p:cNvPr id="30" name="Text 28"/>
          <p:cNvSpPr/>
          <p:nvPr/>
        </p:nvSpPr>
        <p:spPr>
          <a:xfrm>
            <a:off x="4526280" y="5074920"/>
            <a:ext cx="3063240" cy="868680"/>
          </a:xfrm>
          <a:prstGeom prst="rect">
            <a:avLst/>
          </a:prstGeom>
          <a:noFill/>
          <a:ln/>
        </p:spPr>
        <p:txBody>
          <a:bodyPr wrap="square" rtlCol="0" anchor="ctr"/>
          <a:lstStyle/>
          <a:p>
            <a:pPr indent="0" marL="0">
              <a:lnSpc>
                <a:spcPts val="1400"/>
              </a:lnSpc>
              <a:buNone/>
            </a:pPr>
            <a:r>
              <a:rPr lang="en-US" sz="950" dirty="0">
                <a:solidFill>
                  <a:srgbClr val="475569"/>
                </a:solidFill>
                <a:latin typeface="Malgun Gothic" pitchFamily="34" charset="0"/>
                <a:ea typeface="Malgun Gothic" pitchFamily="34" charset="-122"/>
                <a:cs typeface="Malgun Gothic" pitchFamily="34" charset="-120"/>
              </a:rPr>
              <a:t>최고관리자 승인제 회원가입, 9개 탭별 접근 권한 체크박스 부여 시스템</a:t>
            </a:r>
            <a:endParaRPr lang="en-US" sz="950" dirty="0"/>
          </a:p>
        </p:txBody>
      </p:sp>
      <p:sp>
        <p:nvSpPr>
          <p:cNvPr id="31" name="Shape 29"/>
          <p:cNvSpPr/>
          <p:nvPr/>
        </p:nvSpPr>
        <p:spPr>
          <a:xfrm>
            <a:off x="7955280" y="4572000"/>
            <a:ext cx="3429000" cy="1463040"/>
          </a:xfrm>
          <a:prstGeom prst="roundRect">
            <a:avLst>
              <a:gd name="adj" fmla="val 6250"/>
            </a:avLst>
          </a:prstGeom>
          <a:solidFill>
            <a:srgbClr val="FFFFFF"/>
          </a:solidFill>
          <a:ln w="12700">
            <a:solidFill>
              <a:srgbClr val="CBD5E1"/>
            </a:solidFill>
            <a:prstDash val="solid"/>
          </a:ln>
        </p:spPr>
      </p:sp>
      <p:sp>
        <p:nvSpPr>
          <p:cNvPr id="32" name="Text 30"/>
          <p:cNvSpPr/>
          <p:nvPr/>
        </p:nvSpPr>
        <p:spPr>
          <a:xfrm>
            <a:off x="8138160" y="4736592"/>
            <a:ext cx="3063240" cy="274320"/>
          </a:xfrm>
          <a:prstGeom prst="rect">
            <a:avLst/>
          </a:prstGeom>
          <a:noFill/>
          <a:ln/>
        </p:spPr>
        <p:txBody>
          <a:bodyPr wrap="square" rtlCol="0" anchor="ctr"/>
          <a:lstStyle/>
          <a:p>
            <a:pPr indent="0" marL="0">
              <a:buNone/>
            </a:pPr>
            <a:r>
              <a:rPr lang="en-US" sz="1150" b="1" dirty="0">
                <a:solidFill>
                  <a:srgbClr val="0F172A"/>
                </a:solidFill>
                <a:latin typeface="Malgun Gothic" pitchFamily="34" charset="0"/>
                <a:ea typeface="Malgun Gothic" pitchFamily="34" charset="-122"/>
                <a:cs typeface="Malgun Gothic" pitchFamily="34" charset="-120"/>
              </a:rPr>
              <a:t>💾 9. 데이터 백업 &amp; 복원</a:t>
            </a:r>
            <a:endParaRPr lang="en-US" sz="1150" dirty="0"/>
          </a:p>
        </p:txBody>
      </p:sp>
      <p:sp>
        <p:nvSpPr>
          <p:cNvPr id="33" name="Text 31"/>
          <p:cNvSpPr/>
          <p:nvPr/>
        </p:nvSpPr>
        <p:spPr>
          <a:xfrm>
            <a:off x="8138160" y="5074920"/>
            <a:ext cx="3063240" cy="868680"/>
          </a:xfrm>
          <a:prstGeom prst="rect">
            <a:avLst/>
          </a:prstGeom>
          <a:noFill/>
          <a:ln/>
        </p:spPr>
        <p:txBody>
          <a:bodyPr wrap="square" rtlCol="0" anchor="ctr"/>
          <a:lstStyle/>
          <a:p>
            <a:pPr indent="0" marL="0">
              <a:lnSpc>
                <a:spcPts val="1400"/>
              </a:lnSpc>
              <a:buNone/>
            </a:pPr>
            <a:r>
              <a:rPr lang="en-US" sz="950" dirty="0">
                <a:solidFill>
                  <a:srgbClr val="475569"/>
                </a:solidFill>
                <a:latin typeface="Malgun Gothic" pitchFamily="34" charset="0"/>
                <a:ea typeface="Malgun Gothic" pitchFamily="34" charset="-122"/>
                <a:cs typeface="Malgun Gothic" pitchFamily="34" charset="-120"/>
              </a:rPr>
              <a:t>전체 설정 1클릭 JSON 파일 백업/복원 및 긴급 롤백/초기화 기능 지원</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284C7"/>
          </a:solidFill>
          <a:ln/>
        </p:spPr>
      </p:sp>
      <p:sp>
        <p:nvSpPr>
          <p:cNvPr id="3" name="Text 1"/>
          <p:cNvSpPr/>
          <p:nvPr/>
        </p:nvSpPr>
        <p:spPr>
          <a:xfrm>
            <a:off x="731520" y="320040"/>
            <a:ext cx="7315200" cy="228600"/>
          </a:xfrm>
          <a:prstGeom prst="rect">
            <a:avLst/>
          </a:prstGeom>
          <a:noFill/>
          <a:ln/>
        </p:spPr>
        <p:txBody>
          <a:bodyPr wrap="square" rtlCol="0" anchor="ctr"/>
          <a:lstStyle/>
          <a:p>
            <a:pPr indent="0" marL="0">
              <a:buNone/>
            </a:pPr>
            <a:r>
              <a:rPr lang="en-US" sz="1000" b="1" dirty="0">
                <a:solidFill>
                  <a:srgbClr val="0284C7"/>
                </a:solidFill>
                <a:latin typeface="Malgun Gothic" pitchFamily="34" charset="0"/>
                <a:ea typeface="Malgun Gothic" pitchFamily="34" charset="-122"/>
                <a:cs typeface="Malgun Gothic" pitchFamily="34" charset="-120"/>
              </a:rPr>
              <a:t>RELIABILITY, SAFETY GUARD &amp; SECURITY</a:t>
            </a:r>
            <a:endParaRPr lang="en-US" sz="1000" dirty="0"/>
          </a:p>
        </p:txBody>
      </p:sp>
      <p:sp>
        <p:nvSpPr>
          <p:cNvPr id="4" name="Text 2"/>
          <p:cNvSpPr/>
          <p:nvPr/>
        </p:nvSpPr>
        <p:spPr>
          <a:xfrm>
            <a:off x="731520" y="548640"/>
            <a:ext cx="9144000" cy="502920"/>
          </a:xfrm>
          <a:prstGeom prst="rect">
            <a:avLst/>
          </a:prstGeom>
          <a:noFill/>
          <a:ln/>
        </p:spPr>
        <p:txBody>
          <a:bodyPr wrap="square" rtlCol="0" anchor="ctr"/>
          <a:lstStyle/>
          <a:p>
            <a:pPr indent="0" marL="0">
              <a:buNone/>
            </a:pPr>
            <a:r>
              <a:rPr lang="en-US" sz="2000" b="1" dirty="0">
                <a:solidFill>
                  <a:srgbClr val="0F172A"/>
                </a:solidFill>
                <a:latin typeface="Malgun Gothic" pitchFamily="34" charset="0"/>
                <a:ea typeface="Malgun Gothic" pitchFamily="34" charset="-122"/>
                <a:cs typeface="Malgun Gothic" pitchFamily="34" charset="-120"/>
              </a:rPr>
              <a:t>시스템 신뢰성, 안전 가드 및 보안 체계</a:t>
            </a:r>
            <a:endParaRPr lang="en-US" sz="2000" dirty="0"/>
          </a:p>
        </p:txBody>
      </p:sp>
      <p:sp>
        <p:nvSpPr>
          <p:cNvPr id="5" name="Text 3"/>
          <p:cNvSpPr/>
          <p:nvPr/>
        </p:nvSpPr>
        <p:spPr>
          <a:xfrm>
            <a:off x="10789920" y="457200"/>
            <a:ext cx="914400" cy="365760"/>
          </a:xfrm>
          <a:prstGeom prst="rect">
            <a:avLst/>
          </a:prstGeom>
          <a:noFill/>
          <a:ln/>
        </p:spPr>
        <p:txBody>
          <a:bodyPr wrap="square" rtlCol="0" anchor="ctr"/>
          <a:lstStyle/>
          <a:p>
            <a:pPr algn="r" indent="0" marL="0">
              <a:buNone/>
            </a:pPr>
            <a:r>
              <a:rPr lang="en-US" sz="1200" b="1" dirty="0">
                <a:solidFill>
                  <a:srgbClr val="475569"/>
                </a:solidFill>
                <a:latin typeface="Arial" pitchFamily="34" charset="0"/>
                <a:ea typeface="Arial" pitchFamily="34" charset="-122"/>
                <a:cs typeface="Arial" pitchFamily="34" charset="-120"/>
              </a:rPr>
              <a:t>08 / 10</a:t>
            </a:r>
            <a:endParaRPr lang="en-US" sz="1200" dirty="0"/>
          </a:p>
        </p:txBody>
      </p:sp>
      <p:sp>
        <p:nvSpPr>
          <p:cNvPr id="6" name="Shape 4"/>
          <p:cNvSpPr/>
          <p:nvPr/>
        </p:nvSpPr>
        <p:spPr>
          <a:xfrm>
            <a:off x="731520" y="1143000"/>
            <a:ext cx="10698480" cy="0"/>
          </a:xfrm>
          <a:prstGeom prst="line">
            <a:avLst/>
          </a:prstGeom>
          <a:noFill/>
          <a:ln w="19050">
            <a:solidFill>
              <a:srgbClr val="E2E8F0"/>
            </a:solidFill>
            <a:prstDash val="solid"/>
          </a:ln>
        </p:spPr>
      </p:sp>
      <p:sp>
        <p:nvSpPr>
          <p:cNvPr id="7" name="Shape 5"/>
          <p:cNvSpPr/>
          <p:nvPr/>
        </p:nvSpPr>
        <p:spPr>
          <a:xfrm>
            <a:off x="731520" y="1371600"/>
            <a:ext cx="3429000" cy="4937760"/>
          </a:xfrm>
          <a:prstGeom prst="roundRect">
            <a:avLst>
              <a:gd name="adj" fmla="val 4000"/>
            </a:avLst>
          </a:prstGeom>
          <a:solidFill>
            <a:srgbClr val="FFFFFF"/>
          </a:solidFill>
          <a:ln w="25400">
            <a:solidFill>
              <a:srgbClr val="E11D48"/>
            </a:solidFill>
            <a:prstDash val="solid"/>
          </a:ln>
        </p:spPr>
      </p:sp>
      <p:sp>
        <p:nvSpPr>
          <p:cNvPr id="8" name="Shape 6"/>
          <p:cNvSpPr/>
          <p:nvPr/>
        </p:nvSpPr>
        <p:spPr>
          <a:xfrm>
            <a:off x="731520" y="1371600"/>
            <a:ext cx="3429000" cy="685800"/>
          </a:xfrm>
          <a:prstGeom prst="rect">
            <a:avLst/>
          </a:prstGeom>
          <a:solidFill>
            <a:srgbClr val="E11D48"/>
          </a:solidFill>
          <a:ln/>
        </p:spPr>
      </p:sp>
      <p:sp>
        <p:nvSpPr>
          <p:cNvPr id="9" name="Text 7"/>
          <p:cNvSpPr/>
          <p:nvPr/>
        </p:nvSpPr>
        <p:spPr>
          <a:xfrm>
            <a:off x="731520" y="1463040"/>
            <a:ext cx="3429000" cy="274320"/>
          </a:xfrm>
          <a:prstGeom prst="rect">
            <a:avLst/>
          </a:prstGeom>
          <a:noFill/>
          <a:ln/>
        </p:spPr>
        <p:txBody>
          <a:bodyPr wrap="square"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 업무마스터 안전 가드</a:t>
            </a:r>
            <a:endParaRPr lang="en-US" sz="1200" dirty="0"/>
          </a:p>
        </p:txBody>
      </p:sp>
      <p:sp>
        <p:nvSpPr>
          <p:cNvPr id="10" name="Text 8"/>
          <p:cNvSpPr/>
          <p:nvPr/>
        </p:nvSpPr>
        <p:spPr>
          <a:xfrm>
            <a:off x="731520" y="1755648"/>
            <a:ext cx="3429000" cy="201168"/>
          </a:xfrm>
          <a:prstGeom prst="rect">
            <a:avLst/>
          </a:prstGeom>
          <a:noFill/>
          <a:ln/>
        </p:spPr>
        <p:txBody>
          <a:bodyPr wrap="square" rtlCol="0" anchor="ctr"/>
          <a:lstStyle/>
          <a:p>
            <a:pPr algn="ctr" indent="0" marL="0">
              <a:buNone/>
            </a:pPr>
            <a:r>
              <a:rPr lang="en-US" sz="900" dirty="0">
                <a:solidFill>
                  <a:srgbClr val="E2E8F0"/>
                </a:solidFill>
                <a:latin typeface="Arial" pitchFamily="34" charset="0"/>
                <a:ea typeface="Arial" pitchFamily="34" charset="-122"/>
                <a:cs typeface="Arial" pitchFamily="34" charset="-120"/>
              </a:rPr>
              <a:t>Fail-Safe Safety Guard</a:t>
            </a:r>
            <a:endParaRPr lang="en-US" sz="900" dirty="0"/>
          </a:p>
        </p:txBody>
      </p:sp>
      <p:sp>
        <p:nvSpPr>
          <p:cNvPr id="11" name="Text 9"/>
          <p:cNvSpPr/>
          <p:nvPr/>
        </p:nvSpPr>
        <p:spPr>
          <a:xfrm>
            <a:off x="914400" y="2286000"/>
            <a:ext cx="3063240" cy="3749040"/>
          </a:xfrm>
          <a:prstGeom prst="rect">
            <a:avLst/>
          </a:prstGeom>
          <a:noFill/>
          <a:ln/>
        </p:spPr>
        <p:txBody>
          <a:bodyPr wrap="square" rtlCol="0" anchor="ctr"/>
          <a:lstStyle/>
          <a:p>
            <a:pPr indent="0" marL="0">
              <a:lnSpc>
                <a:spcPts val="1600"/>
              </a:lnSpc>
              <a:buNone/>
            </a:pPr>
            <a:r>
              <a:rPr lang="en-US" sz="1050" dirty="0">
                <a:solidFill>
                  <a:srgbClr val="0F172A"/>
                </a:solidFill>
                <a:latin typeface="Malgun Gothic" pitchFamily="34" charset="0"/>
                <a:ea typeface="Malgun Gothic" pitchFamily="34" charset="-122"/>
                <a:cs typeface="Malgun Gothic" pitchFamily="34" charset="-120"/>
              </a:rPr>
              <a:t>• 전담지원 불가(N) 10종 업무 강제 격리</a:t>
            </a:r>
            <a:endParaRPr lang="en-US" sz="1050" dirty="0"/>
          </a:p>
          <a:p>
            <a:pPr indent="0" marL="0">
              <a:lnSpc>
                <a:spcPts val="1600"/>
              </a:lnSpc>
              <a:buNone/>
            </a:pPr>
            <a:endParaRPr lang="en-US" sz="1050" dirty="0"/>
          </a:p>
          <a:p>
            <a:pPr indent="0" marL="0">
              <a:lnSpc>
                <a:spcPts val="1600"/>
              </a:lnSpc>
              <a:buNone/>
            </a:pPr>
            <a:r>
              <a:rPr lang="en-US" sz="1050" dirty="0">
                <a:solidFill>
                  <a:srgbClr val="0F172A"/>
                </a:solidFill>
                <a:latin typeface="Malgun Gothic" pitchFamily="34" charset="0"/>
                <a:ea typeface="Malgun Gothic" pitchFamily="34" charset="-122"/>
                <a:cs typeface="Malgun Gothic" pitchFamily="34" charset="-120"/>
              </a:rPr>
              <a:t>• 수혈동의서, 기관절개관 교체 등은 간호사에게 절대 콜 배정 불가</a:t>
            </a:r>
            <a:endParaRPr lang="en-US" sz="1050" dirty="0"/>
          </a:p>
          <a:p>
            <a:pPr indent="0" marL="0">
              <a:lnSpc>
                <a:spcPts val="1600"/>
              </a:lnSpc>
              <a:buNone/>
            </a:pPr>
            <a:endParaRPr lang="en-US" sz="1050" dirty="0"/>
          </a:p>
          <a:p>
            <a:pPr indent="0" marL="0">
              <a:lnSpc>
                <a:spcPts val="1600"/>
              </a:lnSpc>
              <a:buNone/>
            </a:pPr>
            <a:r>
              <a:rPr lang="en-US" sz="1050" dirty="0">
                <a:solidFill>
                  <a:srgbClr val="0F172A"/>
                </a:solidFill>
                <a:latin typeface="Malgun Gothic" pitchFamily="34" charset="0"/>
                <a:ea typeface="Malgun Gothic" pitchFamily="34" charset="-122"/>
                <a:cs typeface="Malgun Gothic" pitchFamily="34" charset="-120"/>
              </a:rPr>
              <a:t>• 규칙 빌더 설정 오류가 발생해도 시스템 가드가 2차로 의사 직통 배정 강제</a:t>
            </a:r>
            <a:endParaRPr lang="en-US" sz="1050" dirty="0"/>
          </a:p>
          <a:p>
            <a:pPr indent="0" marL="0">
              <a:lnSpc>
                <a:spcPts val="1600"/>
              </a:lnSpc>
              <a:buNone/>
            </a:pPr>
            <a:endParaRPr lang="en-US" sz="1050" dirty="0"/>
          </a:p>
          <a:p>
            <a:pPr indent="0" marL="0">
              <a:lnSpc>
                <a:spcPts val="1600"/>
              </a:lnSpc>
              <a:buNone/>
            </a:pPr>
            <a:r>
              <a:rPr lang="en-US" sz="1050" dirty="0">
                <a:solidFill>
                  <a:srgbClr val="0F172A"/>
                </a:solidFill>
                <a:latin typeface="Malgun Gothic" pitchFamily="34" charset="0"/>
                <a:ea typeface="Malgun Gothic" pitchFamily="34" charset="-122"/>
                <a:cs typeface="Malgun Gothic" pitchFamily="34" charset="-120"/>
              </a:rPr>
              <a:t>• 의료법 및 원내 임상 지침 100% 준수</a:t>
            </a:r>
            <a:endParaRPr lang="en-US" sz="1050" dirty="0"/>
          </a:p>
        </p:txBody>
      </p:sp>
      <p:sp>
        <p:nvSpPr>
          <p:cNvPr id="12" name="Shape 10"/>
          <p:cNvSpPr/>
          <p:nvPr/>
        </p:nvSpPr>
        <p:spPr>
          <a:xfrm>
            <a:off x="4343400" y="1371600"/>
            <a:ext cx="3429000" cy="4937760"/>
          </a:xfrm>
          <a:prstGeom prst="roundRect">
            <a:avLst>
              <a:gd name="adj" fmla="val 4000"/>
            </a:avLst>
          </a:prstGeom>
          <a:solidFill>
            <a:srgbClr val="FFFFFF"/>
          </a:solidFill>
          <a:ln w="25400">
            <a:solidFill>
              <a:srgbClr val="0284C7"/>
            </a:solidFill>
            <a:prstDash val="solid"/>
          </a:ln>
        </p:spPr>
      </p:sp>
      <p:sp>
        <p:nvSpPr>
          <p:cNvPr id="13" name="Shape 11"/>
          <p:cNvSpPr/>
          <p:nvPr/>
        </p:nvSpPr>
        <p:spPr>
          <a:xfrm>
            <a:off x="4343400" y="1371600"/>
            <a:ext cx="3429000" cy="685800"/>
          </a:xfrm>
          <a:prstGeom prst="rect">
            <a:avLst/>
          </a:prstGeom>
          <a:solidFill>
            <a:srgbClr val="0284C7"/>
          </a:solidFill>
          <a:ln/>
        </p:spPr>
      </p:sp>
      <p:sp>
        <p:nvSpPr>
          <p:cNvPr id="14" name="Text 12"/>
          <p:cNvSpPr/>
          <p:nvPr/>
        </p:nvSpPr>
        <p:spPr>
          <a:xfrm>
            <a:off x="4343400" y="1463040"/>
            <a:ext cx="3429000" cy="274320"/>
          </a:xfrm>
          <a:prstGeom prst="rect">
            <a:avLst/>
          </a:prstGeom>
          <a:noFill/>
          <a:ln/>
        </p:spPr>
        <p:txBody>
          <a:bodyPr wrap="square"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 3중 데이터 회복 탄력성</a:t>
            </a:r>
            <a:endParaRPr lang="en-US" sz="1200" dirty="0"/>
          </a:p>
        </p:txBody>
      </p:sp>
      <p:sp>
        <p:nvSpPr>
          <p:cNvPr id="15" name="Text 13"/>
          <p:cNvSpPr/>
          <p:nvPr/>
        </p:nvSpPr>
        <p:spPr>
          <a:xfrm>
            <a:off x="4343400" y="1755648"/>
            <a:ext cx="3429000" cy="201168"/>
          </a:xfrm>
          <a:prstGeom prst="rect">
            <a:avLst/>
          </a:prstGeom>
          <a:noFill/>
          <a:ln/>
        </p:spPr>
        <p:txBody>
          <a:bodyPr wrap="square" rtlCol="0" anchor="ctr"/>
          <a:lstStyle/>
          <a:p>
            <a:pPr algn="ctr" indent="0" marL="0">
              <a:buNone/>
            </a:pPr>
            <a:r>
              <a:rPr lang="en-US" sz="900" dirty="0">
                <a:solidFill>
                  <a:srgbClr val="E2E8F0"/>
                </a:solidFill>
                <a:latin typeface="Arial" pitchFamily="34" charset="0"/>
                <a:ea typeface="Arial" pitchFamily="34" charset="-122"/>
                <a:cs typeface="Arial" pitchFamily="34" charset="-120"/>
              </a:rPr>
              <a:t>Triple Data Resilience</a:t>
            </a:r>
            <a:endParaRPr lang="en-US" sz="900" dirty="0"/>
          </a:p>
        </p:txBody>
      </p:sp>
      <p:sp>
        <p:nvSpPr>
          <p:cNvPr id="16" name="Text 14"/>
          <p:cNvSpPr/>
          <p:nvPr/>
        </p:nvSpPr>
        <p:spPr>
          <a:xfrm>
            <a:off x="4526280" y="2286000"/>
            <a:ext cx="3063240" cy="3749040"/>
          </a:xfrm>
          <a:prstGeom prst="rect">
            <a:avLst/>
          </a:prstGeom>
          <a:noFill/>
          <a:ln/>
        </p:spPr>
        <p:txBody>
          <a:bodyPr wrap="square" rtlCol="0" anchor="ctr"/>
          <a:lstStyle/>
          <a:p>
            <a:pPr indent="0" marL="0">
              <a:lnSpc>
                <a:spcPts val="1600"/>
              </a:lnSpc>
              <a:buNone/>
            </a:pPr>
            <a:r>
              <a:rPr lang="en-US" sz="1050" dirty="0">
                <a:solidFill>
                  <a:srgbClr val="0F172A"/>
                </a:solidFill>
                <a:latin typeface="Malgun Gothic" pitchFamily="34" charset="0"/>
                <a:ea typeface="Malgun Gothic" pitchFamily="34" charset="-122"/>
                <a:cs typeface="Malgun Gothic" pitchFamily="34" charset="-120"/>
              </a:rPr>
              <a:t>• 1단계: Cloud PostgreSQL (Neon DB) 실시간 동기화</a:t>
            </a:r>
            <a:endParaRPr lang="en-US" sz="1050" dirty="0"/>
          </a:p>
          <a:p>
            <a:pPr indent="0" marL="0">
              <a:lnSpc>
                <a:spcPts val="1600"/>
              </a:lnSpc>
              <a:buNone/>
            </a:pPr>
            <a:endParaRPr lang="en-US" sz="1050" dirty="0"/>
          </a:p>
          <a:p>
            <a:pPr indent="0" marL="0">
              <a:lnSpc>
                <a:spcPts val="1600"/>
              </a:lnSpc>
              <a:buNone/>
            </a:pPr>
            <a:r>
              <a:rPr lang="en-US" sz="1050" dirty="0">
                <a:solidFill>
                  <a:srgbClr val="0F172A"/>
                </a:solidFill>
                <a:latin typeface="Malgun Gothic" pitchFamily="34" charset="0"/>
                <a:ea typeface="Malgun Gothic" pitchFamily="34" charset="-122"/>
                <a:cs typeface="Malgun Gothic" pitchFamily="34" charset="-120"/>
              </a:rPr>
              <a:t>• 2단계: Google Sheets 자동 수집 파이프라인 (1분 주기 폴링)</a:t>
            </a:r>
            <a:endParaRPr lang="en-US" sz="1050" dirty="0"/>
          </a:p>
          <a:p>
            <a:pPr indent="0" marL="0">
              <a:lnSpc>
                <a:spcPts val="1600"/>
              </a:lnSpc>
              <a:buNone/>
            </a:pPr>
            <a:endParaRPr lang="en-US" sz="1050" dirty="0"/>
          </a:p>
          <a:p>
            <a:pPr indent="0" marL="0">
              <a:lnSpc>
                <a:spcPts val="1600"/>
              </a:lnSpc>
              <a:buNone/>
            </a:pPr>
            <a:r>
              <a:rPr lang="en-US" sz="1050" dirty="0">
                <a:solidFill>
                  <a:srgbClr val="0F172A"/>
                </a:solidFill>
                <a:latin typeface="Malgun Gothic" pitchFamily="34" charset="0"/>
                <a:ea typeface="Malgun Gothic" pitchFamily="34" charset="-122"/>
                <a:cs typeface="Malgun Gothic" pitchFamily="34" charset="-120"/>
              </a:rPr>
              <a:t>• 3단계: LocalStorage 브라우저 오프라인 캐시 자동 백업</a:t>
            </a:r>
            <a:endParaRPr lang="en-US" sz="1050" dirty="0"/>
          </a:p>
          <a:p>
            <a:pPr indent="0" marL="0">
              <a:lnSpc>
                <a:spcPts val="1600"/>
              </a:lnSpc>
              <a:buNone/>
            </a:pPr>
            <a:endParaRPr lang="en-US" sz="1050" dirty="0"/>
          </a:p>
          <a:p>
            <a:pPr indent="0" marL="0">
              <a:lnSpc>
                <a:spcPts val="1600"/>
              </a:lnSpc>
              <a:buNone/>
            </a:pPr>
            <a:r>
              <a:rPr lang="en-US" sz="1050" dirty="0">
                <a:solidFill>
                  <a:srgbClr val="0F172A"/>
                </a:solidFill>
                <a:latin typeface="Malgun Gothic" pitchFamily="34" charset="0"/>
                <a:ea typeface="Malgun Gothic" pitchFamily="34" charset="-122"/>
                <a:cs typeface="Malgun Gothic" pitchFamily="34" charset="-120"/>
              </a:rPr>
              <a:t>• 병원 네트워크 단절 시에도 현장 무중단 100% 가동</a:t>
            </a:r>
            <a:endParaRPr lang="en-US" sz="1050" dirty="0"/>
          </a:p>
        </p:txBody>
      </p:sp>
      <p:sp>
        <p:nvSpPr>
          <p:cNvPr id="17" name="Shape 15"/>
          <p:cNvSpPr/>
          <p:nvPr/>
        </p:nvSpPr>
        <p:spPr>
          <a:xfrm>
            <a:off x="7955280" y="1371600"/>
            <a:ext cx="3429000" cy="4937760"/>
          </a:xfrm>
          <a:prstGeom prst="roundRect">
            <a:avLst>
              <a:gd name="adj" fmla="val 4000"/>
            </a:avLst>
          </a:prstGeom>
          <a:solidFill>
            <a:srgbClr val="FFFFFF"/>
          </a:solidFill>
          <a:ln w="25400">
            <a:solidFill>
              <a:srgbClr val="059669"/>
            </a:solidFill>
            <a:prstDash val="solid"/>
          </a:ln>
        </p:spPr>
      </p:sp>
      <p:sp>
        <p:nvSpPr>
          <p:cNvPr id="18" name="Shape 16"/>
          <p:cNvSpPr/>
          <p:nvPr/>
        </p:nvSpPr>
        <p:spPr>
          <a:xfrm>
            <a:off x="7955280" y="1371600"/>
            <a:ext cx="3429000" cy="685800"/>
          </a:xfrm>
          <a:prstGeom prst="rect">
            <a:avLst/>
          </a:prstGeom>
          <a:solidFill>
            <a:srgbClr val="059669"/>
          </a:solidFill>
          <a:ln/>
        </p:spPr>
      </p:sp>
      <p:sp>
        <p:nvSpPr>
          <p:cNvPr id="19" name="Text 17"/>
          <p:cNvSpPr/>
          <p:nvPr/>
        </p:nvSpPr>
        <p:spPr>
          <a:xfrm>
            <a:off x="7955280" y="1463040"/>
            <a:ext cx="3429000" cy="274320"/>
          </a:xfrm>
          <a:prstGeom prst="rect">
            <a:avLst/>
          </a:prstGeom>
          <a:noFill/>
          <a:ln/>
        </p:spPr>
        <p:txBody>
          <a:bodyPr wrap="square"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 강력한 권한 관리 (RBAC)</a:t>
            </a:r>
            <a:endParaRPr lang="en-US" sz="1200" dirty="0"/>
          </a:p>
        </p:txBody>
      </p:sp>
      <p:sp>
        <p:nvSpPr>
          <p:cNvPr id="20" name="Text 18"/>
          <p:cNvSpPr/>
          <p:nvPr/>
        </p:nvSpPr>
        <p:spPr>
          <a:xfrm>
            <a:off x="7955280" y="1755648"/>
            <a:ext cx="3429000" cy="201168"/>
          </a:xfrm>
          <a:prstGeom prst="rect">
            <a:avLst/>
          </a:prstGeom>
          <a:noFill/>
          <a:ln/>
        </p:spPr>
        <p:txBody>
          <a:bodyPr wrap="square" rtlCol="0" anchor="ctr"/>
          <a:lstStyle/>
          <a:p>
            <a:pPr algn="ctr" indent="0" marL="0">
              <a:buNone/>
            </a:pPr>
            <a:r>
              <a:rPr lang="en-US" sz="900" dirty="0">
                <a:solidFill>
                  <a:srgbClr val="E2E8F0"/>
                </a:solidFill>
                <a:latin typeface="Arial" pitchFamily="34" charset="0"/>
                <a:ea typeface="Arial" pitchFamily="34" charset="-122"/>
                <a:cs typeface="Arial" pitchFamily="34" charset="-120"/>
              </a:rPr>
              <a:t>Security &amp; Access Control</a:t>
            </a:r>
            <a:endParaRPr lang="en-US" sz="900" dirty="0"/>
          </a:p>
        </p:txBody>
      </p:sp>
      <p:sp>
        <p:nvSpPr>
          <p:cNvPr id="21" name="Text 19"/>
          <p:cNvSpPr/>
          <p:nvPr/>
        </p:nvSpPr>
        <p:spPr>
          <a:xfrm>
            <a:off x="8138160" y="2286000"/>
            <a:ext cx="3063240" cy="3749040"/>
          </a:xfrm>
          <a:prstGeom prst="rect">
            <a:avLst/>
          </a:prstGeom>
          <a:noFill/>
          <a:ln/>
        </p:spPr>
        <p:txBody>
          <a:bodyPr wrap="square" rtlCol="0" anchor="ctr"/>
          <a:lstStyle/>
          <a:p>
            <a:pPr indent="0" marL="0">
              <a:lnSpc>
                <a:spcPts val="1600"/>
              </a:lnSpc>
              <a:buNone/>
            </a:pPr>
            <a:r>
              <a:rPr lang="en-US" sz="1050" dirty="0">
                <a:solidFill>
                  <a:srgbClr val="0F172A"/>
                </a:solidFill>
                <a:latin typeface="Malgun Gothic" pitchFamily="34" charset="0"/>
                <a:ea typeface="Malgun Gothic" pitchFamily="34" charset="-122"/>
                <a:cs typeface="Malgun Gothic" pitchFamily="34" charset="-120"/>
              </a:rPr>
              <a:t>• 비밀번호 SHA-256 단방향 암호화 저장</a:t>
            </a:r>
            <a:endParaRPr lang="en-US" sz="1050" dirty="0"/>
          </a:p>
          <a:p>
            <a:pPr indent="0" marL="0">
              <a:lnSpc>
                <a:spcPts val="1600"/>
              </a:lnSpc>
              <a:buNone/>
            </a:pPr>
            <a:endParaRPr lang="en-US" sz="1050" dirty="0"/>
          </a:p>
          <a:p>
            <a:pPr indent="0" marL="0">
              <a:lnSpc>
                <a:spcPts val="1600"/>
              </a:lnSpc>
              <a:buNone/>
            </a:pPr>
            <a:r>
              <a:rPr lang="en-US" sz="1050" dirty="0">
                <a:solidFill>
                  <a:srgbClr val="0F172A"/>
                </a:solidFill>
                <a:latin typeface="Malgun Gothic" pitchFamily="34" charset="0"/>
                <a:ea typeface="Malgun Gothic" pitchFamily="34" charset="-122"/>
                <a:cs typeface="Malgun Gothic" pitchFamily="34" charset="-120"/>
              </a:rPr>
              <a:t>• 최고 관리자(SUPER_ADMIN) 전용 승인 시스템 (미승인자 로그인 차단)</a:t>
            </a:r>
            <a:endParaRPr lang="en-US" sz="1050" dirty="0"/>
          </a:p>
          <a:p>
            <a:pPr indent="0" marL="0">
              <a:lnSpc>
                <a:spcPts val="1600"/>
              </a:lnSpc>
              <a:buNone/>
            </a:pPr>
            <a:endParaRPr lang="en-US" sz="1050" dirty="0"/>
          </a:p>
          <a:p>
            <a:pPr indent="0" marL="0">
              <a:lnSpc>
                <a:spcPts val="1600"/>
              </a:lnSpc>
              <a:buNone/>
            </a:pPr>
            <a:r>
              <a:rPr lang="en-US" sz="1050" dirty="0">
                <a:solidFill>
                  <a:srgbClr val="0F172A"/>
                </a:solidFill>
                <a:latin typeface="Malgun Gothic" pitchFamily="34" charset="0"/>
                <a:ea typeface="Malgun Gothic" pitchFamily="34" charset="-122"/>
                <a:cs typeface="Malgun Gothic" pitchFamily="34" charset="-120"/>
              </a:rPr>
              <a:t>• 9개 관리자 탭별 세부 접근 권한 체크박스 제어</a:t>
            </a:r>
            <a:endParaRPr lang="en-US" sz="1050" dirty="0"/>
          </a:p>
          <a:p>
            <a:pPr indent="0" marL="0">
              <a:lnSpc>
                <a:spcPts val="1600"/>
              </a:lnSpc>
              <a:buNone/>
            </a:pPr>
            <a:endParaRPr lang="en-US" sz="1050" dirty="0"/>
          </a:p>
          <a:p>
            <a:pPr indent="0" marL="0">
              <a:lnSpc>
                <a:spcPts val="1600"/>
              </a:lnSpc>
              <a:buNone/>
            </a:pPr>
            <a:r>
              <a:rPr lang="en-US" sz="1050" dirty="0">
                <a:solidFill>
                  <a:srgbClr val="0F172A"/>
                </a:solidFill>
                <a:latin typeface="Malgun Gothic" pitchFamily="34" charset="0"/>
                <a:ea typeface="Malgun Gothic" pitchFamily="34" charset="-122"/>
                <a:cs typeface="Malgun Gothic" pitchFamily="34" charset="-120"/>
              </a:rPr>
              <a:t>• 무단 당직표 변조 및 개인정보 유출 원천 차단</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284C7"/>
          </a:solidFill>
          <a:ln/>
        </p:spPr>
      </p:sp>
      <p:sp>
        <p:nvSpPr>
          <p:cNvPr id="3" name="Text 1"/>
          <p:cNvSpPr/>
          <p:nvPr/>
        </p:nvSpPr>
        <p:spPr>
          <a:xfrm>
            <a:off x="731520" y="320040"/>
            <a:ext cx="7315200" cy="228600"/>
          </a:xfrm>
          <a:prstGeom prst="rect">
            <a:avLst/>
          </a:prstGeom>
          <a:noFill/>
          <a:ln/>
        </p:spPr>
        <p:txBody>
          <a:bodyPr wrap="square" rtlCol="0" anchor="ctr"/>
          <a:lstStyle/>
          <a:p>
            <a:pPr indent="0" marL="0">
              <a:buNone/>
            </a:pPr>
            <a:r>
              <a:rPr lang="en-US" sz="1000" b="1" dirty="0">
                <a:solidFill>
                  <a:srgbClr val="0284C7"/>
                </a:solidFill>
                <a:latin typeface="Malgun Gothic" pitchFamily="34" charset="0"/>
                <a:ea typeface="Malgun Gothic" pitchFamily="34" charset="-122"/>
                <a:cs typeface="Malgun Gothic" pitchFamily="34" charset="-120"/>
              </a:rPr>
              <a:t>EXPECTED IMPACT &amp; BUSINESS VALUE</a:t>
            </a:r>
            <a:endParaRPr lang="en-US" sz="1000" dirty="0"/>
          </a:p>
        </p:txBody>
      </p:sp>
      <p:sp>
        <p:nvSpPr>
          <p:cNvPr id="4" name="Text 2"/>
          <p:cNvSpPr/>
          <p:nvPr/>
        </p:nvSpPr>
        <p:spPr>
          <a:xfrm>
            <a:off x="731520" y="548640"/>
            <a:ext cx="9144000" cy="502920"/>
          </a:xfrm>
          <a:prstGeom prst="rect">
            <a:avLst/>
          </a:prstGeom>
          <a:noFill/>
          <a:ln/>
        </p:spPr>
        <p:txBody>
          <a:bodyPr wrap="square" rtlCol="0" anchor="ctr"/>
          <a:lstStyle/>
          <a:p>
            <a:pPr indent="0" marL="0">
              <a:buNone/>
            </a:pPr>
            <a:r>
              <a:rPr lang="en-US" sz="2000" b="1" dirty="0">
                <a:solidFill>
                  <a:srgbClr val="0F172A"/>
                </a:solidFill>
                <a:latin typeface="Malgun Gothic" pitchFamily="34" charset="0"/>
                <a:ea typeface="Malgun Gothic" pitchFamily="34" charset="-122"/>
                <a:cs typeface="Malgun Gothic" pitchFamily="34" charset="-120"/>
              </a:rPr>
              <a:t>시스템 도입 성과 및 기대 효과 (AS-IS vs TO-BE)</a:t>
            </a:r>
            <a:endParaRPr lang="en-US" sz="2000" dirty="0"/>
          </a:p>
        </p:txBody>
      </p:sp>
      <p:sp>
        <p:nvSpPr>
          <p:cNvPr id="5" name="Text 3"/>
          <p:cNvSpPr/>
          <p:nvPr/>
        </p:nvSpPr>
        <p:spPr>
          <a:xfrm>
            <a:off x="10789920" y="457200"/>
            <a:ext cx="914400" cy="365760"/>
          </a:xfrm>
          <a:prstGeom prst="rect">
            <a:avLst/>
          </a:prstGeom>
          <a:noFill/>
          <a:ln/>
        </p:spPr>
        <p:txBody>
          <a:bodyPr wrap="square" rtlCol="0" anchor="ctr"/>
          <a:lstStyle/>
          <a:p>
            <a:pPr algn="r" indent="0" marL="0">
              <a:buNone/>
            </a:pPr>
            <a:r>
              <a:rPr lang="en-US" sz="1200" b="1" dirty="0">
                <a:solidFill>
                  <a:srgbClr val="475569"/>
                </a:solidFill>
                <a:latin typeface="Arial" pitchFamily="34" charset="0"/>
                <a:ea typeface="Arial" pitchFamily="34" charset="-122"/>
                <a:cs typeface="Arial" pitchFamily="34" charset="-120"/>
              </a:rPr>
              <a:t>09 / 10</a:t>
            </a:r>
            <a:endParaRPr lang="en-US" sz="1200" dirty="0"/>
          </a:p>
        </p:txBody>
      </p:sp>
      <p:sp>
        <p:nvSpPr>
          <p:cNvPr id="6" name="Shape 4"/>
          <p:cNvSpPr/>
          <p:nvPr/>
        </p:nvSpPr>
        <p:spPr>
          <a:xfrm>
            <a:off x="731520" y="1143000"/>
            <a:ext cx="10698480" cy="0"/>
          </a:xfrm>
          <a:prstGeom prst="line">
            <a:avLst/>
          </a:prstGeom>
          <a:noFill/>
          <a:ln w="19050">
            <a:solidFill>
              <a:srgbClr val="E2E8F0"/>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31520" y="1371600"/>
          <a:ext cx="10515600" cy="4114800"/>
        </p:xfrm>
        <a:graphic>
          <a:graphicData uri="http://schemas.openxmlformats.org/drawingml/2006/table">
            <a:tbl>
              <a:tblPr/>
              <a:tblGrid>
                <a:gridCol w="2011680"/>
                <a:gridCol w="2834640"/>
                <a:gridCol w="2834640"/>
                <a:gridCol w="2834640"/>
              </a:tblGrid>
              <a:tr h="822960">
                <a:tc>
                  <a:txBody>
                    <a:bodyPr/>
                    <a:lstStyle/>
                    <a:p>
                      <a:pPr algn="ctr" indent="0" marL="0">
                        <a:buNone/>
                      </a:pPr>
                      <a:r>
                        <a:rPr lang="en-US" sz="1100" b="1" dirty="0">
                          <a:solidFill>
                            <a:srgbClr val="FFFFFF"/>
                          </a:solidFill>
                        </a:rPr>
                        <a:t>비교 지표</a:t>
                      </a:r>
                      <a:endParaRPr lang="en-US" sz="11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100" b="1" dirty="0">
                          <a:solidFill>
                            <a:srgbClr val="FFFFFF"/>
                          </a:solidFill>
                        </a:rPr>
                        <a:t>기존 현장 (AS-IS)</a:t>
                      </a:r>
                      <a:endParaRPr lang="en-US" sz="11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100" b="1" dirty="0">
                          <a:solidFill>
                            <a:srgbClr val="FFFFFF"/>
                          </a:solidFill>
                        </a:rPr>
                        <a:t>시스템 도입 후 (TO-BE)</a:t>
                      </a:r>
                      <a:endParaRPr lang="en-US" sz="11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100" b="1" dirty="0">
                          <a:solidFill>
                            <a:srgbClr val="FFFFFF"/>
                          </a:solidFill>
                        </a:rPr>
                        <a:t>개선 성과</a:t>
                      </a:r>
                      <a:endParaRPr lang="en-US" sz="11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r>
              <a:tr h="822960">
                <a:tc>
                  <a:txBody>
                    <a:bodyPr/>
                    <a:lstStyle/>
                    <a:p>
                      <a:pPr indent="0" marL="0">
                        <a:buNone/>
                      </a:pPr>
                      <a:r>
                        <a:rPr lang="en-US" sz="1000" b="1" dirty="0">
                          <a:solidFill>
                            <a:srgbClr val="000000"/>
                          </a:solidFill>
                        </a:rPr>
                        <a:t>당직자 확인 소요 시간</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475569"/>
                          </a:solidFill>
                        </a:rPr>
                        <a:t>평균 2 ~ 3분 소요</a:t>
                      </a:r>
                      <a:endParaRPr lang="en-US" sz="1000" dirty="0"/>
                    </a:p>
                    <a:p>
                      <a:pPr indent="0" marL="0">
                        <a:buNone/>
                      </a:pPr>
                      <a:r>
                        <a:rPr lang="en-US" sz="1000" dirty="0">
                          <a:solidFill>
                            <a:srgbClr val="475569"/>
                          </a:solidFill>
                        </a:rPr>
                        <a:t>(종이 당직표/엑셀 수기 대조)</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0284C7"/>
                          </a:solidFill>
                        </a:rPr>
                        <a:t>평균 1 ~ 3초 완료</a:t>
                      </a:r>
                      <a:endParaRPr lang="en-US" sz="1000" dirty="0"/>
                    </a:p>
                    <a:p>
                      <a:pPr indent="0" marL="0">
                        <a:buNone/>
                      </a:pPr>
                      <a:r>
                        <a:rPr lang="en-US" sz="1000" b="1" dirty="0">
                          <a:solidFill>
                            <a:srgbClr val="0284C7"/>
                          </a:solidFill>
                        </a:rPr>
                        <a:t>(원클릭 조건 선택 즉시 출력)</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059669"/>
                          </a:solidFill>
                        </a:rPr>
                        <a:t>⏱️ 95% 이상 단축</a:t>
                      </a:r>
                      <a:endParaRPr lang="en-US" sz="1000" dirty="0"/>
                    </a:p>
                    <a:p>
                      <a:pPr indent="0" marL="0">
                        <a:buNone/>
                      </a:pPr>
                      <a:r>
                        <a:rPr lang="en-US" sz="1000" b="1" dirty="0">
                          <a:solidFill>
                            <a:srgbClr val="059669"/>
                          </a:solidFill>
                        </a:rPr>
                        <a:t>(처치 골든타임 확보)</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822960">
                <a:tc>
                  <a:txBody>
                    <a:bodyPr/>
                    <a:lstStyle/>
                    <a:p>
                      <a:pPr indent="0" marL="0">
                        <a:buNone/>
                      </a:pPr>
                      <a:r>
                        <a:rPr lang="en-US" sz="1000" b="1" dirty="0">
                          <a:solidFill>
                            <a:srgbClr val="000000"/>
                          </a:solidFill>
                        </a:rPr>
                        <a:t>오콜(Wrong Call) 발생</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475569"/>
                          </a:solidFill>
                        </a:rPr>
                        <a:t>월 평균 30~40건 빈발</a:t>
                      </a:r>
                      <a:endParaRPr lang="en-US" sz="1000" dirty="0"/>
                    </a:p>
                    <a:p>
                      <a:pPr indent="0" marL="0">
                        <a:buNone/>
                      </a:pPr>
                      <a:r>
                        <a:rPr lang="en-US" sz="1000" dirty="0">
                          <a:solidFill>
                            <a:srgbClr val="475569"/>
                          </a:solidFill>
                        </a:rPr>
                        <a:t>(비당직의 수면 방해/갈등)</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0284C7"/>
                          </a:solidFill>
                        </a:rPr>
                        <a:t>0건에 수렴</a:t>
                      </a:r>
                      <a:endParaRPr lang="en-US" sz="1000" dirty="0"/>
                    </a:p>
                    <a:p>
                      <a:pPr indent="0" marL="0">
                        <a:buNone/>
                      </a:pPr>
                      <a:r>
                        <a:rPr lang="en-US" sz="1000" b="1" dirty="0">
                          <a:solidFill>
                            <a:srgbClr val="0284C7"/>
                          </a:solidFill>
                        </a:rPr>
                        <a:t>(알고리즘 기반 강제 매칭)</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059669"/>
                          </a:solidFill>
                        </a:rPr>
                        <a:t>🚫 오콜 제로화 달성</a:t>
                      </a:r>
                      <a:endParaRPr lang="en-US" sz="1000" dirty="0"/>
                    </a:p>
                    <a:p>
                      <a:pPr indent="0" marL="0">
                        <a:buNone/>
                      </a:pPr>
                      <a:r>
                        <a:rPr lang="en-US" sz="1000" b="1" dirty="0">
                          <a:solidFill>
                            <a:srgbClr val="059669"/>
                          </a:solidFill>
                        </a:rPr>
                        <a:t>(의료진 피로도 대폭 경감)</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822960">
                <a:tc>
                  <a:txBody>
                    <a:bodyPr/>
                    <a:lstStyle/>
                    <a:p>
                      <a:pPr indent="0" marL="0">
                        <a:buNone/>
                      </a:pPr>
                      <a:r>
                        <a:rPr lang="en-US" sz="1000" b="1" dirty="0">
                          <a:solidFill>
                            <a:srgbClr val="000000"/>
                          </a:solidFill>
                        </a:rPr>
                        <a:t>당직 변경 반영 속도</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475569"/>
                          </a:solidFill>
                        </a:rPr>
                        <a:t>수시간 ~ 반나절 소요</a:t>
                      </a:r>
                      <a:endParaRPr lang="en-US" sz="1000" dirty="0"/>
                    </a:p>
                    <a:p>
                      <a:pPr indent="0" marL="0">
                        <a:buNone/>
                      </a:pPr>
                      <a:r>
                        <a:rPr lang="en-US" sz="1000" dirty="0">
                          <a:solidFill>
                            <a:srgbClr val="475569"/>
                          </a:solidFill>
                        </a:rPr>
                        <a:t>(구두 전파 및 출력물 누락)</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0284C7"/>
                          </a:solidFill>
                        </a:rPr>
                        <a:t>1분 주기 자동 동기화</a:t>
                      </a:r>
                      <a:endParaRPr lang="en-US" sz="1000" dirty="0"/>
                    </a:p>
                    <a:p>
                      <a:pPr indent="0" marL="0">
                        <a:buNone/>
                      </a:pPr>
                      <a:r>
                        <a:rPr lang="en-US" sz="1000" b="1" dirty="0">
                          <a:solidFill>
                            <a:srgbClr val="0284C7"/>
                          </a:solidFill>
                        </a:rPr>
                        <a:t>(구글 시트 수정 즉시 반영)</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059669"/>
                          </a:solidFill>
                        </a:rPr>
                        <a:t>⚡ 실시간성 확보</a:t>
                      </a:r>
                      <a:endParaRPr lang="en-US" sz="1000" dirty="0"/>
                    </a:p>
                    <a:p>
                      <a:pPr indent="0" marL="0">
                        <a:buNone/>
                      </a:pPr>
                      <a:r>
                        <a:rPr lang="en-US" sz="1000" b="1" dirty="0">
                          <a:solidFill>
                            <a:srgbClr val="059669"/>
                          </a:solidFill>
                        </a:rPr>
                        <a:t>(연락 두절 사고 원천 방지)</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822960">
                <a:tc>
                  <a:txBody>
                    <a:bodyPr/>
                    <a:lstStyle/>
                    <a:p>
                      <a:pPr indent="0" marL="0">
                        <a:buNone/>
                      </a:pPr>
                      <a:r>
                        <a:rPr lang="en-US" sz="1000" b="1" dirty="0">
                          <a:solidFill>
                            <a:srgbClr val="000000"/>
                          </a:solidFill>
                        </a:rPr>
                        <a:t>전담간호사 업무 분계</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475569"/>
                          </a:solidFill>
                        </a:rPr>
                        <a:t>병동별 임의 판단으로</a:t>
                      </a:r>
                      <a:endParaRPr lang="en-US" sz="1000" dirty="0"/>
                    </a:p>
                    <a:p>
                      <a:pPr indent="0" marL="0">
                        <a:buNone/>
                      </a:pPr>
                      <a:r>
                        <a:rPr lang="en-US" sz="1000" dirty="0">
                          <a:solidFill>
                            <a:srgbClr val="475569"/>
                          </a:solidFill>
                        </a:rPr>
                        <a:t>간호-의사 간 마찰 빈발</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0284C7"/>
                          </a:solidFill>
                        </a:rPr>
                        <a:t>업무마스터 규격화</a:t>
                      </a:r>
                      <a:endParaRPr lang="en-US" sz="1000" dirty="0"/>
                    </a:p>
                    <a:p>
                      <a:pPr indent="0" marL="0">
                        <a:buNone/>
                      </a:pPr>
                      <a:r>
                        <a:rPr lang="en-US" sz="1000" b="1" dirty="0">
                          <a:solidFill>
                            <a:srgbClr val="0284C7"/>
                          </a:solidFill>
                        </a:rPr>
                        <a:t>(지원 가능 여부 자동 판정)</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059669"/>
                          </a:solidFill>
                        </a:rPr>
                        <a:t>🤝 부서 간 신뢰 구축</a:t>
                      </a:r>
                      <a:endParaRPr lang="en-US" sz="1000" dirty="0"/>
                    </a:p>
                    <a:p>
                      <a:pPr indent="0" marL="0">
                        <a:buNone/>
                      </a:pPr>
                      <a:r>
                        <a:rPr lang="en-US" sz="1000" b="1" dirty="0">
                          <a:solidFill>
                            <a:srgbClr val="059669"/>
                          </a:solidFill>
                        </a:rPr>
                        <a:t>(표준 임상 프로세스 정착)</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Shape 5"/>
          <p:cNvSpPr/>
          <p:nvPr/>
        </p:nvSpPr>
        <p:spPr>
          <a:xfrm>
            <a:off x="731520" y="5715000"/>
            <a:ext cx="10515600" cy="594360"/>
          </a:xfrm>
          <a:prstGeom prst="roundRect">
            <a:avLst>
              <a:gd name="adj" fmla="val 15385"/>
            </a:avLst>
          </a:prstGeom>
          <a:solidFill>
            <a:srgbClr val="D1FAE5"/>
          </a:solidFill>
          <a:ln w="19050">
            <a:solidFill>
              <a:srgbClr val="059669"/>
            </a:solidFill>
            <a:prstDash val="solid"/>
          </a:ln>
        </p:spPr>
      </p:sp>
      <p:sp>
        <p:nvSpPr>
          <p:cNvPr id="9" name="Text 6"/>
          <p:cNvSpPr/>
          <p:nvPr/>
        </p:nvSpPr>
        <p:spPr>
          <a:xfrm>
            <a:off x="914400" y="5806440"/>
            <a:ext cx="10149840" cy="411480"/>
          </a:xfrm>
          <a:prstGeom prst="rect">
            <a:avLst/>
          </a:prstGeom>
          <a:noFill/>
          <a:ln/>
        </p:spPr>
        <p:txBody>
          <a:bodyPr wrap="square" rtlCol="0" anchor="ctr"/>
          <a:lstStyle/>
          <a:p>
            <a:pPr algn="ctr" indent="0" marL="0">
              <a:buNone/>
            </a:pPr>
            <a:r>
              <a:rPr lang="en-US" sz="1150" b="1" dirty="0">
                <a:solidFill>
                  <a:srgbClr val="059669"/>
                </a:solidFill>
                <a:latin typeface="Malgun Gothic" pitchFamily="34" charset="0"/>
                <a:ea typeface="Malgun Gothic" pitchFamily="34" charset="-122"/>
                <a:cs typeface="Malgun Gothic" pitchFamily="34" charset="-120"/>
              </a:rPr>
              <a:t>🌟 최종 결론: 단순한 연락처 조회를 넘어, 병원 내 불필요한 소통 마찰을 없애고 환자 안전을 지키는 스마트 임상 인프라 구축!</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914400" y="731520"/>
            <a:ext cx="9144000" cy="274320"/>
          </a:xfrm>
          <a:prstGeom prst="rect">
            <a:avLst/>
          </a:prstGeom>
          <a:noFill/>
          <a:ln/>
        </p:spPr>
        <p:txBody>
          <a:bodyPr wrap="square" rtlCol="0" anchor="ctr"/>
          <a:lstStyle/>
          <a:p>
            <a:pPr indent="0" marL="0">
              <a:buNone/>
            </a:pPr>
            <a:r>
              <a:rPr lang="en-US" sz="1100" b="1" dirty="0">
                <a:solidFill>
                  <a:srgbClr val="06B6D4"/>
                </a:solidFill>
                <a:latin typeface="Malgun Gothic" pitchFamily="34" charset="0"/>
                <a:ea typeface="Malgun Gothic" pitchFamily="34" charset="-122"/>
                <a:cs typeface="Malgun Gothic" pitchFamily="34" charset="-120"/>
              </a:rPr>
              <a:t>NEXT STEPS &amp; CONCLUSION</a:t>
            </a:r>
            <a:endParaRPr lang="en-US" sz="1100" dirty="0"/>
          </a:p>
        </p:txBody>
      </p:sp>
      <p:sp>
        <p:nvSpPr>
          <p:cNvPr id="3" name="Text 1"/>
          <p:cNvSpPr/>
          <p:nvPr/>
        </p:nvSpPr>
        <p:spPr>
          <a:xfrm>
            <a:off x="914400" y="1051560"/>
            <a:ext cx="9144000" cy="548640"/>
          </a:xfrm>
          <a:prstGeom prst="rect">
            <a:avLst/>
          </a:prstGeom>
          <a:noFill/>
          <a:ln/>
        </p:spPr>
        <p:txBody>
          <a:bodyPr wrap="square" rtlCol="0" anchor="ctr"/>
          <a:lstStyle/>
          <a:p>
            <a:pPr indent="0" marL="0">
              <a:buNone/>
            </a:pPr>
            <a:r>
              <a:rPr lang="en-US" sz="2600" b="1" dirty="0">
                <a:solidFill>
                  <a:srgbClr val="FFFFFF"/>
                </a:solidFill>
                <a:latin typeface="Malgun Gothic" pitchFamily="34" charset="0"/>
                <a:ea typeface="Malgun Gothic" pitchFamily="34" charset="-122"/>
                <a:cs typeface="Malgun Gothic" pitchFamily="34" charset="-120"/>
              </a:rPr>
              <a:t>향후 발전 로드맵 및 질의응답 (Q&amp;A)</a:t>
            </a:r>
            <a:endParaRPr lang="en-US" sz="2600" dirty="0"/>
          </a:p>
        </p:txBody>
      </p:sp>
      <p:sp>
        <p:nvSpPr>
          <p:cNvPr id="4" name="Shape 2"/>
          <p:cNvSpPr/>
          <p:nvPr/>
        </p:nvSpPr>
        <p:spPr>
          <a:xfrm>
            <a:off x="914400" y="1828800"/>
            <a:ext cx="3200400" cy="3291840"/>
          </a:xfrm>
          <a:prstGeom prst="roundRect">
            <a:avLst>
              <a:gd name="adj" fmla="val 4286"/>
            </a:avLst>
          </a:prstGeom>
          <a:solidFill>
            <a:srgbClr val="1E293B"/>
          </a:solidFill>
          <a:ln w="19050">
            <a:solidFill>
              <a:srgbClr val="0284C7"/>
            </a:solidFill>
            <a:prstDash val="solid"/>
          </a:ln>
        </p:spPr>
      </p:sp>
      <p:sp>
        <p:nvSpPr>
          <p:cNvPr id="5" name="Text 3"/>
          <p:cNvSpPr/>
          <p:nvPr/>
        </p:nvSpPr>
        <p:spPr>
          <a:xfrm>
            <a:off x="1188720" y="2057400"/>
            <a:ext cx="2651760" cy="228600"/>
          </a:xfrm>
          <a:prstGeom prst="rect">
            <a:avLst/>
          </a:prstGeom>
          <a:noFill/>
          <a:ln/>
        </p:spPr>
        <p:txBody>
          <a:bodyPr wrap="square" rtlCol="0" anchor="ctr"/>
          <a:lstStyle/>
          <a:p>
            <a:pPr indent="0" marL="0">
              <a:buNone/>
            </a:pPr>
            <a:r>
              <a:rPr lang="en-US" sz="1100" b="1" dirty="0">
                <a:solidFill>
                  <a:srgbClr val="0284C7"/>
                </a:solidFill>
                <a:latin typeface="Malgun Gothic" pitchFamily="34" charset="0"/>
                <a:ea typeface="Malgun Gothic" pitchFamily="34" charset="-122"/>
                <a:cs typeface="Malgun Gothic" pitchFamily="34" charset="-120"/>
              </a:rPr>
              <a:t>PHASE 1</a:t>
            </a:r>
            <a:endParaRPr lang="en-US" sz="1100" dirty="0"/>
          </a:p>
        </p:txBody>
      </p:sp>
      <p:sp>
        <p:nvSpPr>
          <p:cNvPr id="6" name="Text 4"/>
          <p:cNvSpPr/>
          <p:nvPr/>
        </p:nvSpPr>
        <p:spPr>
          <a:xfrm>
            <a:off x="1188720" y="2331720"/>
            <a:ext cx="2651760" cy="411480"/>
          </a:xfrm>
          <a:prstGeom prst="rect">
            <a:avLst/>
          </a:prstGeom>
          <a:noFill/>
          <a:ln/>
        </p:spPr>
        <p:txBody>
          <a:bodyPr wrap="square"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원내 EMR &amp; 메신저 연동</a:t>
            </a:r>
            <a:endParaRPr lang="en-US" sz="1400" dirty="0"/>
          </a:p>
        </p:txBody>
      </p:sp>
      <p:sp>
        <p:nvSpPr>
          <p:cNvPr id="7" name="Text 5"/>
          <p:cNvSpPr/>
          <p:nvPr/>
        </p:nvSpPr>
        <p:spPr>
          <a:xfrm>
            <a:off x="1188720" y="2926080"/>
            <a:ext cx="2651760" cy="1920240"/>
          </a:xfrm>
          <a:prstGeom prst="rect">
            <a:avLst/>
          </a:prstGeom>
          <a:noFill/>
          <a:ln/>
        </p:spPr>
        <p:txBody>
          <a:bodyPr wrap="square" rtlCol="0" anchor="ctr"/>
          <a:lstStyle/>
          <a:p>
            <a:pPr indent="0" marL="0">
              <a:lnSpc>
                <a:spcPts val="1700"/>
              </a:lnSpc>
              <a:buNone/>
            </a:pPr>
            <a:r>
              <a:rPr lang="en-US" sz="1050" dirty="0">
                <a:solidFill>
                  <a:srgbClr val="CBD5E1"/>
                </a:solidFill>
                <a:latin typeface="Malgun Gothic" pitchFamily="34" charset="0"/>
                <a:ea typeface="Malgun Gothic" pitchFamily="34" charset="-122"/>
                <a:cs typeface="Malgun Gothic" pitchFamily="34" charset="-120"/>
              </a:rPr>
              <a:t>• 원내 전자의무기록(EMR) 내 콜 버튼 임베딩</a:t>
            </a:r>
            <a:endParaRPr lang="en-US" sz="1050" dirty="0"/>
          </a:p>
          <a:p>
            <a:pPr indent="0" marL="0">
              <a:lnSpc>
                <a:spcPts val="1700"/>
              </a:lnSpc>
              <a:buNone/>
            </a:pPr>
            <a:r>
              <a:rPr lang="en-US" sz="1050" dirty="0">
                <a:solidFill>
                  <a:srgbClr val="CBD5E1"/>
                </a:solidFill>
                <a:latin typeface="Malgun Gothic" pitchFamily="34" charset="0"/>
                <a:ea typeface="Malgun Gothic" pitchFamily="34" charset="-122"/>
                <a:cs typeface="Malgun Gothic" pitchFamily="34" charset="-120"/>
              </a:rPr>
              <a:t>• DUMC 모바일 톡 앱 직접 푸시 알림 연동</a:t>
            </a:r>
            <a:endParaRPr lang="en-US" sz="1050" dirty="0"/>
          </a:p>
          <a:p>
            <a:pPr indent="0" marL="0">
              <a:lnSpc>
                <a:spcPts val="1700"/>
              </a:lnSpc>
              <a:buNone/>
            </a:pPr>
            <a:r>
              <a:rPr lang="en-US" sz="1050" dirty="0">
                <a:solidFill>
                  <a:srgbClr val="CBD5E1"/>
                </a:solidFill>
                <a:latin typeface="Malgun Gothic" pitchFamily="34" charset="0"/>
                <a:ea typeface="Malgun Gothic" pitchFamily="34" charset="-122"/>
                <a:cs typeface="Malgun Gothic" pitchFamily="34" charset="-120"/>
              </a:rPr>
              <a:t>• 환자 정보 연동을 통한 호출 사유 자동 전송</a:t>
            </a:r>
            <a:endParaRPr lang="en-US" sz="1050" dirty="0"/>
          </a:p>
        </p:txBody>
      </p:sp>
      <p:sp>
        <p:nvSpPr>
          <p:cNvPr id="8" name="Shape 6"/>
          <p:cNvSpPr/>
          <p:nvPr/>
        </p:nvSpPr>
        <p:spPr>
          <a:xfrm>
            <a:off x="4389120" y="1828800"/>
            <a:ext cx="3200400" cy="3291840"/>
          </a:xfrm>
          <a:prstGeom prst="roundRect">
            <a:avLst>
              <a:gd name="adj" fmla="val 4286"/>
            </a:avLst>
          </a:prstGeom>
          <a:solidFill>
            <a:srgbClr val="1E293B"/>
          </a:solidFill>
          <a:ln w="19050">
            <a:solidFill>
              <a:srgbClr val="06B6D4"/>
            </a:solidFill>
            <a:prstDash val="solid"/>
          </a:ln>
        </p:spPr>
      </p:sp>
      <p:sp>
        <p:nvSpPr>
          <p:cNvPr id="9" name="Text 7"/>
          <p:cNvSpPr/>
          <p:nvPr/>
        </p:nvSpPr>
        <p:spPr>
          <a:xfrm>
            <a:off x="4663440" y="2057400"/>
            <a:ext cx="2651760" cy="228600"/>
          </a:xfrm>
          <a:prstGeom prst="rect">
            <a:avLst/>
          </a:prstGeom>
          <a:noFill/>
          <a:ln/>
        </p:spPr>
        <p:txBody>
          <a:bodyPr wrap="square" rtlCol="0" anchor="ctr"/>
          <a:lstStyle/>
          <a:p>
            <a:pPr indent="0" marL="0">
              <a:buNone/>
            </a:pPr>
            <a:r>
              <a:rPr lang="en-US" sz="1100" b="1" dirty="0">
                <a:solidFill>
                  <a:srgbClr val="06B6D4"/>
                </a:solidFill>
                <a:latin typeface="Malgun Gothic" pitchFamily="34" charset="0"/>
                <a:ea typeface="Malgun Gothic" pitchFamily="34" charset="-122"/>
                <a:cs typeface="Malgun Gothic" pitchFamily="34" charset="-120"/>
              </a:rPr>
              <a:t>PHASE 2</a:t>
            </a:r>
            <a:endParaRPr lang="en-US" sz="1100" dirty="0"/>
          </a:p>
        </p:txBody>
      </p:sp>
      <p:sp>
        <p:nvSpPr>
          <p:cNvPr id="10" name="Text 8"/>
          <p:cNvSpPr/>
          <p:nvPr/>
        </p:nvSpPr>
        <p:spPr>
          <a:xfrm>
            <a:off x="4663440" y="2331720"/>
            <a:ext cx="2651760" cy="411480"/>
          </a:xfrm>
          <a:prstGeom prst="rect">
            <a:avLst/>
          </a:prstGeom>
          <a:noFill/>
          <a:ln/>
        </p:spPr>
        <p:txBody>
          <a:bodyPr wrap="square"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모바일 PWA 웹앱 고도화</a:t>
            </a:r>
            <a:endParaRPr lang="en-US" sz="1400" dirty="0"/>
          </a:p>
        </p:txBody>
      </p:sp>
      <p:sp>
        <p:nvSpPr>
          <p:cNvPr id="11" name="Text 9"/>
          <p:cNvSpPr/>
          <p:nvPr/>
        </p:nvSpPr>
        <p:spPr>
          <a:xfrm>
            <a:off x="4663440" y="2926080"/>
            <a:ext cx="2651760" cy="1920240"/>
          </a:xfrm>
          <a:prstGeom prst="rect">
            <a:avLst/>
          </a:prstGeom>
          <a:noFill/>
          <a:ln/>
        </p:spPr>
        <p:txBody>
          <a:bodyPr wrap="square" rtlCol="0" anchor="ctr"/>
          <a:lstStyle/>
          <a:p>
            <a:pPr indent="0" marL="0">
              <a:lnSpc>
                <a:spcPts val="1700"/>
              </a:lnSpc>
              <a:buNone/>
            </a:pPr>
            <a:r>
              <a:rPr lang="en-US" sz="1050" dirty="0">
                <a:solidFill>
                  <a:srgbClr val="CBD5E1"/>
                </a:solidFill>
                <a:latin typeface="Malgun Gothic" pitchFamily="34" charset="0"/>
                <a:ea typeface="Malgun Gothic" pitchFamily="34" charset="-122"/>
                <a:cs typeface="Malgun Gothic" pitchFamily="34" charset="-120"/>
              </a:rPr>
              <a:t>• 별도 앱스토어 설치 없는 홈 화면 추가 (PWA)</a:t>
            </a:r>
            <a:endParaRPr lang="en-US" sz="1050" dirty="0"/>
          </a:p>
          <a:p>
            <a:pPr indent="0" marL="0">
              <a:lnSpc>
                <a:spcPts val="1700"/>
              </a:lnSpc>
              <a:buNone/>
            </a:pPr>
            <a:r>
              <a:rPr lang="en-US" sz="1050" dirty="0">
                <a:solidFill>
                  <a:srgbClr val="CBD5E1"/>
                </a:solidFill>
                <a:latin typeface="Malgun Gothic" pitchFamily="34" charset="0"/>
                <a:ea typeface="Malgun Gothic" pitchFamily="34" charset="-122"/>
                <a:cs typeface="Malgun Gothic" pitchFamily="34" charset="-120"/>
              </a:rPr>
              <a:t>• 스마트폰 화면 최적화 반응형 레이아웃 강화</a:t>
            </a:r>
            <a:endParaRPr lang="en-US" sz="1050" dirty="0"/>
          </a:p>
          <a:p>
            <a:pPr indent="0" marL="0">
              <a:lnSpc>
                <a:spcPts val="1700"/>
              </a:lnSpc>
              <a:buNone/>
            </a:pPr>
            <a:r>
              <a:rPr lang="en-US" sz="1050" dirty="0">
                <a:solidFill>
                  <a:srgbClr val="CBD5E1"/>
                </a:solidFill>
                <a:latin typeface="Malgun Gothic" pitchFamily="34" charset="0"/>
                <a:ea typeface="Malgun Gothic" pitchFamily="34" charset="-122"/>
                <a:cs typeface="Malgun Gothic" pitchFamily="34" charset="-120"/>
              </a:rPr>
              <a:t>• 생체인증(지문/Face ID) 간편 로그인 탑재</a:t>
            </a:r>
            <a:endParaRPr lang="en-US" sz="1050" dirty="0"/>
          </a:p>
        </p:txBody>
      </p:sp>
      <p:sp>
        <p:nvSpPr>
          <p:cNvPr id="12" name="Shape 10"/>
          <p:cNvSpPr/>
          <p:nvPr/>
        </p:nvSpPr>
        <p:spPr>
          <a:xfrm>
            <a:off x="7863840" y="1828800"/>
            <a:ext cx="3200400" cy="3291840"/>
          </a:xfrm>
          <a:prstGeom prst="roundRect">
            <a:avLst>
              <a:gd name="adj" fmla="val 4286"/>
            </a:avLst>
          </a:prstGeom>
          <a:solidFill>
            <a:srgbClr val="1E293B"/>
          </a:solidFill>
          <a:ln w="19050">
            <a:solidFill>
              <a:srgbClr val="0D9488"/>
            </a:solidFill>
            <a:prstDash val="solid"/>
          </a:ln>
        </p:spPr>
      </p:sp>
      <p:sp>
        <p:nvSpPr>
          <p:cNvPr id="13" name="Text 11"/>
          <p:cNvSpPr/>
          <p:nvPr/>
        </p:nvSpPr>
        <p:spPr>
          <a:xfrm>
            <a:off x="8138160" y="2057400"/>
            <a:ext cx="2651760" cy="228600"/>
          </a:xfrm>
          <a:prstGeom prst="rect">
            <a:avLst/>
          </a:prstGeom>
          <a:noFill/>
          <a:ln/>
        </p:spPr>
        <p:txBody>
          <a:bodyPr wrap="square" rtlCol="0" anchor="ctr"/>
          <a:lstStyle/>
          <a:p>
            <a:pPr indent="0" marL="0">
              <a:buNone/>
            </a:pPr>
            <a:r>
              <a:rPr lang="en-US" sz="1100" b="1" dirty="0">
                <a:solidFill>
                  <a:srgbClr val="0D9488"/>
                </a:solidFill>
                <a:latin typeface="Malgun Gothic" pitchFamily="34" charset="0"/>
                <a:ea typeface="Malgun Gothic" pitchFamily="34" charset="-122"/>
                <a:cs typeface="Malgun Gothic" pitchFamily="34" charset="-120"/>
              </a:rPr>
              <a:t>PHASE 3</a:t>
            </a:r>
            <a:endParaRPr lang="en-US" sz="1100" dirty="0"/>
          </a:p>
        </p:txBody>
      </p:sp>
      <p:sp>
        <p:nvSpPr>
          <p:cNvPr id="14" name="Text 12"/>
          <p:cNvSpPr/>
          <p:nvPr/>
        </p:nvSpPr>
        <p:spPr>
          <a:xfrm>
            <a:off x="8138160" y="2331720"/>
            <a:ext cx="2651760" cy="411480"/>
          </a:xfrm>
          <a:prstGeom prst="rect">
            <a:avLst/>
          </a:prstGeom>
          <a:noFill/>
          <a:ln/>
        </p:spPr>
        <p:txBody>
          <a:bodyPr wrap="square"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AI 당직 트래픽 통계 분석</a:t>
            </a:r>
            <a:endParaRPr lang="en-US" sz="1400" dirty="0"/>
          </a:p>
        </p:txBody>
      </p:sp>
      <p:sp>
        <p:nvSpPr>
          <p:cNvPr id="15" name="Text 13"/>
          <p:cNvSpPr/>
          <p:nvPr/>
        </p:nvSpPr>
        <p:spPr>
          <a:xfrm>
            <a:off x="8138160" y="2926080"/>
            <a:ext cx="2651760" cy="1920240"/>
          </a:xfrm>
          <a:prstGeom prst="rect">
            <a:avLst/>
          </a:prstGeom>
          <a:noFill/>
          <a:ln/>
        </p:spPr>
        <p:txBody>
          <a:bodyPr wrap="square" rtlCol="0" anchor="ctr"/>
          <a:lstStyle/>
          <a:p>
            <a:pPr indent="0" marL="0">
              <a:lnSpc>
                <a:spcPts val="1700"/>
              </a:lnSpc>
              <a:buNone/>
            </a:pPr>
            <a:r>
              <a:rPr lang="en-US" sz="1050" dirty="0">
                <a:solidFill>
                  <a:srgbClr val="CBD5E1"/>
                </a:solidFill>
                <a:latin typeface="Malgun Gothic" pitchFamily="34" charset="0"/>
                <a:ea typeface="Malgun Gothic" pitchFamily="34" charset="-122"/>
                <a:cs typeface="Malgun Gothic" pitchFamily="34" charset="-120"/>
              </a:rPr>
              <a:t>• 병동별 / 시간대별 호출 빈도 통계 대시보드</a:t>
            </a:r>
            <a:endParaRPr lang="en-US" sz="1050" dirty="0"/>
          </a:p>
          <a:p>
            <a:pPr indent="0" marL="0">
              <a:lnSpc>
                <a:spcPts val="1700"/>
              </a:lnSpc>
              <a:buNone/>
            </a:pPr>
            <a:r>
              <a:rPr lang="en-US" sz="1050" dirty="0">
                <a:solidFill>
                  <a:srgbClr val="CBD5E1"/>
                </a:solidFill>
                <a:latin typeface="Malgun Gothic" pitchFamily="34" charset="0"/>
                <a:ea typeface="Malgun Gothic" pitchFamily="34" charset="-122"/>
                <a:cs typeface="Malgun Gothic" pitchFamily="34" charset="-120"/>
              </a:rPr>
              <a:t>• 전담간호사 vs 당직의 업무 부하 분석 리포트</a:t>
            </a:r>
            <a:endParaRPr lang="en-US" sz="1050" dirty="0"/>
          </a:p>
          <a:p>
            <a:pPr indent="0" marL="0">
              <a:lnSpc>
                <a:spcPts val="1700"/>
              </a:lnSpc>
              <a:buNone/>
            </a:pPr>
            <a:r>
              <a:rPr lang="en-US" sz="1050" dirty="0">
                <a:solidFill>
                  <a:srgbClr val="CBD5E1"/>
                </a:solidFill>
                <a:latin typeface="Malgun Gothic" pitchFamily="34" charset="0"/>
                <a:ea typeface="Malgun Gothic" pitchFamily="34" charset="-122"/>
                <a:cs typeface="Malgun Gothic" pitchFamily="34" charset="-120"/>
              </a:rPr>
              <a:t>• 적정 당직 인력 배치를 위한 의사결정 데이터 제공</a:t>
            </a:r>
            <a:endParaRPr lang="en-US" sz="1050" dirty="0"/>
          </a:p>
        </p:txBody>
      </p:sp>
      <p:sp>
        <p:nvSpPr>
          <p:cNvPr id="16" name="Shape 14"/>
          <p:cNvSpPr/>
          <p:nvPr/>
        </p:nvSpPr>
        <p:spPr>
          <a:xfrm>
            <a:off x="914400" y="5394960"/>
            <a:ext cx="10149840" cy="822960"/>
          </a:xfrm>
          <a:prstGeom prst="roundRect">
            <a:avLst>
              <a:gd name="adj" fmla="val 13333"/>
            </a:avLst>
          </a:prstGeom>
          <a:solidFill>
            <a:srgbClr val="0284C7">
              <a:alpha val="80000"/>
            </a:srgbClr>
          </a:solidFill>
          <a:ln w="19050">
            <a:solidFill>
              <a:srgbClr val="06B6D4"/>
            </a:solidFill>
            <a:prstDash val="solid"/>
          </a:ln>
        </p:spPr>
      </p:sp>
      <p:sp>
        <p:nvSpPr>
          <p:cNvPr id="17" name="Text 15"/>
          <p:cNvSpPr/>
          <p:nvPr/>
        </p:nvSpPr>
        <p:spPr>
          <a:xfrm>
            <a:off x="1097280" y="5532120"/>
            <a:ext cx="9784080" cy="320040"/>
          </a:xfrm>
          <a:prstGeom prst="rect">
            <a:avLst/>
          </a:prstGeom>
          <a:noFill/>
          <a:ln/>
        </p:spPr>
        <p:txBody>
          <a:bodyPr wrap="square"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경청해 주셔서 대단히 감사합니다. 질의응답을 진행하도록 하겠습니다.</a:t>
            </a:r>
            <a:endParaRPr lang="en-US" sz="1400" dirty="0"/>
          </a:p>
        </p:txBody>
      </p:sp>
      <p:sp>
        <p:nvSpPr>
          <p:cNvPr id="18" name="Text 16"/>
          <p:cNvSpPr/>
          <p:nvPr/>
        </p:nvSpPr>
        <p:spPr>
          <a:xfrm>
            <a:off x="1097280" y="5852160"/>
            <a:ext cx="9784080" cy="274320"/>
          </a:xfrm>
          <a:prstGeom prst="rect">
            <a:avLst/>
          </a:prstGeom>
          <a:noFill/>
          <a:ln/>
        </p:spPr>
        <p:txBody>
          <a:bodyPr wrap="square" rtlCol="0" anchor="ctr"/>
          <a:lstStyle/>
          <a:p>
            <a:pPr algn="ctr" indent="0" marL="0">
              <a:buNone/>
            </a:pPr>
            <a:r>
              <a:rPr lang="en-US" sz="1100" dirty="0">
                <a:solidFill>
                  <a:srgbClr val="06B6D4"/>
                </a:solidFill>
                <a:latin typeface="Malgun Gothic" pitchFamily="34" charset="0"/>
                <a:ea typeface="Malgun Gothic" pitchFamily="34" charset="-122"/>
                <a:cs typeface="Malgun Gothic" pitchFamily="34" charset="-120"/>
              </a:rPr>
              <a:t>Q&amp;A / 피드백 및 논의 사항</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병원 당직 및 콜 시스템 개발팀</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스마트 병원 당직 및 전담간호사 콜 라우팅 시스템 발표자료</dc:title>
  <dc:subject>PptxGenJS Presentation</dc:subject>
  <dc:creator>PptxGenJS</dc:creator>
  <cp:lastModifiedBy>PptxGenJS</cp:lastModifiedBy>
  <cp:revision>1</cp:revision>
  <dcterms:created xsi:type="dcterms:W3CDTF">2026-09-06T22:17:48Z</dcterms:created>
  <dcterms:modified xsi:type="dcterms:W3CDTF">2026-09-06T22:17:48Z</dcterms:modified>
</cp:coreProperties>
</file>